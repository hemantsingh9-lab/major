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8" r:id="rId13"/>
    <p:sldId id="271" r:id="rId14"/>
    <p:sldId id="272" r:id="rId15"/>
    <p:sldId id="273" r:id="rId16"/>
    <p:sldId id="274" r:id="rId17"/>
  </p:sldIdLst>
  <p:sldSz cx="11430000" cy="6858000"/>
  <p:notesSz cx="11430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68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gh, Hemant (Contractor)" userId="05eec92c-b5cd-47a5-8a89-f6cfcb956aa2" providerId="ADAL" clId="{90097401-E831-4FAB-9B67-854018EF9312}"/>
    <pc:docChg chg="modSld">
      <pc:chgData name="Singh, Hemant (Contractor)" userId="05eec92c-b5cd-47a5-8a89-f6cfcb956aa2" providerId="ADAL" clId="{90097401-E831-4FAB-9B67-854018EF9312}" dt="2026-05-07T09:50:23.136" v="15" actId="20577"/>
      <pc:docMkLst>
        <pc:docMk/>
      </pc:docMkLst>
      <pc:sldChg chg="modSp mod">
        <pc:chgData name="Singh, Hemant (Contractor)" userId="05eec92c-b5cd-47a5-8a89-f6cfcb956aa2" providerId="ADAL" clId="{90097401-E831-4FAB-9B67-854018EF9312}" dt="2026-05-07T09:50:23.136" v="15" actId="20577"/>
        <pc:sldMkLst>
          <pc:docMk/>
          <pc:sldMk cId="0" sldId="256"/>
        </pc:sldMkLst>
        <pc:spChg chg="mod">
          <ac:chgData name="Singh, Hemant (Contractor)" userId="05eec92c-b5cd-47a5-8a89-f6cfcb956aa2" providerId="ADAL" clId="{90097401-E831-4FAB-9B67-854018EF9312}" dt="2026-05-07T09:50:23.136" v="15" actId="20577"/>
          <ac:spMkLst>
            <pc:docMk/>
            <pc:sldMk cId="0" sldId="256"/>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57250" y="2125980"/>
            <a:ext cx="9715500" cy="1440180"/>
          </a:xfrm>
          <a:prstGeom prst="rect">
            <a:avLst/>
          </a:prstGeom>
        </p:spPr>
        <p:txBody>
          <a:bodyPr wrap="square" lIns="0" tIns="0" rIns="0" bIns="0">
            <a:spAutoFit/>
          </a:bodyPr>
          <a:lstStyle>
            <a:lvl1pPr>
              <a:defRPr sz="4400" b="1" i="0">
                <a:solidFill>
                  <a:srgbClr val="FF0000"/>
                </a:solidFill>
                <a:latin typeface="Tahoma"/>
                <a:cs typeface="Tahoma"/>
              </a:defRPr>
            </a:lvl1pPr>
          </a:lstStyle>
          <a:p>
            <a:endParaRPr/>
          </a:p>
        </p:txBody>
      </p:sp>
      <p:sp>
        <p:nvSpPr>
          <p:cNvPr id="3" name="Holder 3"/>
          <p:cNvSpPr>
            <a:spLocks noGrp="1"/>
          </p:cNvSpPr>
          <p:nvPr>
            <p:ph type="subTitle" idx="4"/>
          </p:nvPr>
        </p:nvSpPr>
        <p:spPr>
          <a:xfrm>
            <a:off x="1714500" y="3840480"/>
            <a:ext cx="8001000" cy="1714500"/>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F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F0000"/>
                </a:solidFill>
                <a:latin typeface="Tahoma"/>
                <a:cs typeface="Tahoma"/>
              </a:defRPr>
            </a:lvl1pPr>
          </a:lstStyle>
          <a:p>
            <a:endParaRPr/>
          </a:p>
        </p:txBody>
      </p:sp>
      <p:sp>
        <p:nvSpPr>
          <p:cNvPr id="3" name="Holder 3"/>
          <p:cNvSpPr>
            <a:spLocks noGrp="1"/>
          </p:cNvSpPr>
          <p:nvPr>
            <p:ph sz="half" idx="2"/>
          </p:nvPr>
        </p:nvSpPr>
        <p:spPr>
          <a:xfrm>
            <a:off x="571500" y="1577340"/>
            <a:ext cx="497205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886450" y="1577340"/>
            <a:ext cx="497205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F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56691" y="104597"/>
            <a:ext cx="8941561" cy="1109903"/>
          </a:xfrm>
          <a:prstGeom prst="rect">
            <a:avLst/>
          </a:prstGeom>
        </p:spPr>
        <p:txBody>
          <a:bodyPr wrap="square" lIns="0" tIns="0" rIns="0" bIns="0">
            <a:spAutoFit/>
          </a:bodyPr>
          <a:lstStyle>
            <a:lvl1pPr>
              <a:defRPr sz="4400" b="1" i="0">
                <a:solidFill>
                  <a:srgbClr val="FF0000"/>
                </a:solidFill>
                <a:latin typeface="Tahoma"/>
                <a:cs typeface="Tahoma"/>
              </a:defRPr>
            </a:lvl1pPr>
          </a:lstStyle>
          <a:p>
            <a:endParaRPr/>
          </a:p>
        </p:txBody>
      </p:sp>
      <p:sp>
        <p:nvSpPr>
          <p:cNvPr id="3" name="Holder 3"/>
          <p:cNvSpPr>
            <a:spLocks noGrp="1"/>
          </p:cNvSpPr>
          <p:nvPr>
            <p:ph type="body" idx="1"/>
          </p:nvPr>
        </p:nvSpPr>
        <p:spPr>
          <a:xfrm>
            <a:off x="429894" y="1852929"/>
            <a:ext cx="10570210" cy="4141470"/>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886200" y="6377940"/>
            <a:ext cx="365760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71500" y="6377940"/>
            <a:ext cx="262890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a:xfrm>
            <a:off x="8229600" y="6377940"/>
            <a:ext cx="262890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38"/>
            <a:ext cx="386715" cy="476884"/>
          </a:xfrm>
          <a:custGeom>
            <a:avLst/>
            <a:gdLst/>
            <a:ahLst/>
            <a:cxnLst/>
            <a:rect l="l" t="t" r="r" b="b"/>
            <a:pathLst>
              <a:path w="386715" h="476884">
                <a:moveTo>
                  <a:pt x="386410" y="0"/>
                </a:moveTo>
                <a:lnTo>
                  <a:pt x="0" y="0"/>
                </a:lnTo>
                <a:lnTo>
                  <a:pt x="0" y="476669"/>
                </a:lnTo>
                <a:lnTo>
                  <a:pt x="386410" y="476669"/>
                </a:lnTo>
                <a:lnTo>
                  <a:pt x="386410" y="0"/>
                </a:lnTo>
                <a:close/>
              </a:path>
            </a:pathLst>
          </a:custGeom>
          <a:solidFill>
            <a:srgbClr val="E16C09"/>
          </a:solidFill>
        </p:spPr>
        <p:txBody>
          <a:bodyPr wrap="square" lIns="0" tIns="0" rIns="0" bIns="0" rtlCol="0"/>
          <a:lstStyle/>
          <a:p>
            <a:endParaRPr/>
          </a:p>
        </p:txBody>
      </p:sp>
      <p:sp>
        <p:nvSpPr>
          <p:cNvPr id="3" name="object 3"/>
          <p:cNvSpPr txBox="1"/>
          <p:nvPr/>
        </p:nvSpPr>
        <p:spPr>
          <a:xfrm>
            <a:off x="824585" y="4510992"/>
            <a:ext cx="3671215" cy="1397177"/>
          </a:xfrm>
          <a:prstGeom prst="rect">
            <a:avLst/>
          </a:prstGeom>
        </p:spPr>
        <p:txBody>
          <a:bodyPr vert="horz" wrap="square" lIns="0" tIns="164465" rIns="0" bIns="0" rtlCol="0">
            <a:spAutoFit/>
          </a:bodyPr>
          <a:lstStyle/>
          <a:p>
            <a:pPr marL="469265" indent="-456565">
              <a:lnSpc>
                <a:spcPct val="100000"/>
              </a:lnSpc>
              <a:spcBef>
                <a:spcPts val="1295"/>
              </a:spcBef>
              <a:buClr>
                <a:srgbClr val="C00000"/>
              </a:buClr>
              <a:buFont typeface="Tahoma"/>
              <a:buAutoNum type="arabicPeriod"/>
              <a:tabLst>
                <a:tab pos="469265" algn="l"/>
              </a:tabLst>
            </a:pPr>
            <a:r>
              <a:rPr lang="en-IN" sz="2000" b="1" spc="-70" dirty="0">
                <a:solidFill>
                  <a:srgbClr val="C00000"/>
                </a:solidFill>
                <a:latin typeface="Tahoma"/>
                <a:cs typeface="Tahoma"/>
              </a:rPr>
              <a:t>BHAVESH RATHORE</a:t>
            </a:r>
            <a:endParaRPr sz="2000" dirty="0">
              <a:latin typeface="Tahoma"/>
              <a:cs typeface="Tahoma"/>
            </a:endParaRPr>
          </a:p>
          <a:p>
            <a:pPr marL="469265" indent="-456565" algn="just">
              <a:lnSpc>
                <a:spcPct val="100000"/>
              </a:lnSpc>
              <a:spcBef>
                <a:spcPts val="1200"/>
              </a:spcBef>
              <a:buAutoNum type="arabicPeriod"/>
              <a:tabLst>
                <a:tab pos="469265" algn="l"/>
              </a:tabLst>
            </a:pPr>
            <a:r>
              <a:rPr lang="en-IN" sz="2000" b="1" spc="-100" dirty="0">
                <a:solidFill>
                  <a:srgbClr val="C00000"/>
                </a:solidFill>
                <a:latin typeface="Tahoma"/>
                <a:cs typeface="Tahoma"/>
              </a:rPr>
              <a:t>HEMANT </a:t>
            </a:r>
            <a:r>
              <a:rPr sz="2000" b="1" spc="-20" dirty="0">
                <a:solidFill>
                  <a:srgbClr val="C00000"/>
                </a:solidFill>
                <a:latin typeface="Tahoma"/>
                <a:cs typeface="Tahoma"/>
              </a:rPr>
              <a:t>SINGH</a:t>
            </a:r>
            <a:endParaRPr sz="2000" dirty="0">
              <a:latin typeface="Tahoma"/>
              <a:cs typeface="Tahoma"/>
            </a:endParaRPr>
          </a:p>
          <a:p>
            <a:pPr marL="469265" indent="-456565">
              <a:lnSpc>
                <a:spcPct val="100000"/>
              </a:lnSpc>
              <a:spcBef>
                <a:spcPts val="1200"/>
              </a:spcBef>
              <a:buAutoNum type="arabicPeriod"/>
              <a:tabLst>
                <a:tab pos="469265" algn="l"/>
              </a:tabLst>
            </a:pPr>
            <a:r>
              <a:rPr lang="en-IN" sz="2000" b="1" spc="-110" dirty="0">
                <a:solidFill>
                  <a:srgbClr val="C00000"/>
                </a:solidFill>
                <a:latin typeface="Tahoma"/>
                <a:cs typeface="Tahoma"/>
              </a:rPr>
              <a:t>SACHIN KUMAR</a:t>
            </a:r>
            <a:endParaRPr sz="2000" dirty="0">
              <a:latin typeface="Tahoma"/>
              <a:cs typeface="Tahoma"/>
            </a:endParaRPr>
          </a:p>
        </p:txBody>
      </p:sp>
      <p:sp>
        <p:nvSpPr>
          <p:cNvPr id="4" name="object 4"/>
          <p:cNvSpPr txBox="1"/>
          <p:nvPr/>
        </p:nvSpPr>
        <p:spPr>
          <a:xfrm>
            <a:off x="3864735" y="4585212"/>
            <a:ext cx="1264285" cy="1335045"/>
          </a:xfrm>
          <a:prstGeom prst="rect">
            <a:avLst/>
          </a:prstGeom>
        </p:spPr>
        <p:txBody>
          <a:bodyPr vert="horz" wrap="square" lIns="0" tIns="12700" rIns="0" bIns="0" rtlCol="0">
            <a:spAutoFit/>
          </a:bodyPr>
          <a:lstStyle/>
          <a:p>
            <a:pPr marL="36830" marR="5715" indent="-24765" algn="just">
              <a:lnSpc>
                <a:spcPct val="150000"/>
              </a:lnSpc>
              <a:spcBef>
                <a:spcPts val="100"/>
              </a:spcBef>
            </a:pPr>
            <a:r>
              <a:rPr sz="2000" b="1" spc="-95" dirty="0">
                <a:solidFill>
                  <a:srgbClr val="C00000"/>
                </a:solidFill>
                <a:latin typeface="Tahoma"/>
                <a:cs typeface="Tahoma"/>
              </a:rPr>
              <a:t>VTU23</a:t>
            </a:r>
            <a:r>
              <a:rPr lang="en-IN" sz="2000" b="1" spc="-95" dirty="0">
                <a:solidFill>
                  <a:srgbClr val="C00000"/>
                </a:solidFill>
                <a:latin typeface="Tahoma"/>
                <a:cs typeface="Tahoma"/>
              </a:rPr>
              <a:t>631</a:t>
            </a:r>
            <a:r>
              <a:rPr sz="2000" b="1" spc="-95" dirty="0">
                <a:solidFill>
                  <a:srgbClr val="C00000"/>
                </a:solidFill>
                <a:latin typeface="Tahoma"/>
                <a:cs typeface="Tahoma"/>
              </a:rPr>
              <a:t> </a:t>
            </a:r>
            <a:r>
              <a:rPr sz="2000" b="1" spc="-120" dirty="0">
                <a:solidFill>
                  <a:srgbClr val="C00000"/>
                </a:solidFill>
                <a:latin typeface="Tahoma"/>
                <a:cs typeface="Tahoma"/>
              </a:rPr>
              <a:t>VTU2</a:t>
            </a:r>
            <a:r>
              <a:rPr lang="en-IN" sz="2000" b="1" spc="-120" dirty="0">
                <a:solidFill>
                  <a:srgbClr val="C00000"/>
                </a:solidFill>
                <a:latin typeface="Tahoma"/>
                <a:cs typeface="Tahoma"/>
              </a:rPr>
              <a:t>3464</a:t>
            </a:r>
            <a:r>
              <a:rPr sz="2000" b="1" spc="-120" dirty="0">
                <a:solidFill>
                  <a:srgbClr val="C00000"/>
                </a:solidFill>
                <a:latin typeface="Tahoma"/>
                <a:cs typeface="Tahoma"/>
              </a:rPr>
              <a:t> VTU23</a:t>
            </a:r>
            <a:r>
              <a:rPr lang="en-IN" sz="2000" b="1" spc="-120" dirty="0">
                <a:solidFill>
                  <a:srgbClr val="C00000"/>
                </a:solidFill>
                <a:latin typeface="Tahoma"/>
                <a:cs typeface="Tahoma"/>
              </a:rPr>
              <a:t>753</a:t>
            </a:r>
            <a:endParaRPr sz="2000" dirty="0">
              <a:latin typeface="Tahoma"/>
              <a:cs typeface="Tahoma"/>
            </a:endParaRPr>
          </a:p>
        </p:txBody>
      </p:sp>
      <p:sp>
        <p:nvSpPr>
          <p:cNvPr id="5" name="object 5"/>
          <p:cNvSpPr txBox="1"/>
          <p:nvPr/>
        </p:nvSpPr>
        <p:spPr>
          <a:xfrm>
            <a:off x="6629400" y="4647442"/>
            <a:ext cx="4348352" cy="1272540"/>
          </a:xfrm>
          <a:prstGeom prst="rect">
            <a:avLst/>
          </a:prstGeom>
        </p:spPr>
        <p:txBody>
          <a:bodyPr vert="horz" wrap="square" lIns="0" tIns="101600" rIns="0" bIns="0" rtlCol="0">
            <a:spAutoFit/>
          </a:bodyPr>
          <a:lstStyle/>
          <a:p>
            <a:pPr marR="58419" algn="ctr">
              <a:lnSpc>
                <a:spcPct val="100000"/>
              </a:lnSpc>
              <a:spcBef>
                <a:spcPts val="800"/>
              </a:spcBef>
            </a:pPr>
            <a:r>
              <a:rPr sz="2000" b="1" spc="-10" dirty="0">
                <a:solidFill>
                  <a:srgbClr val="C00000"/>
                </a:solidFill>
                <a:latin typeface="Tahoma"/>
                <a:cs typeface="Tahoma"/>
              </a:rPr>
              <a:t>Supervisor:</a:t>
            </a:r>
            <a:endParaRPr sz="2000" dirty="0">
              <a:latin typeface="Tahoma"/>
              <a:cs typeface="Tahoma"/>
            </a:endParaRPr>
          </a:p>
          <a:p>
            <a:pPr algn="ctr">
              <a:lnSpc>
                <a:spcPct val="100000"/>
              </a:lnSpc>
              <a:spcBef>
                <a:spcPts val="710"/>
              </a:spcBef>
            </a:pPr>
            <a:r>
              <a:rPr sz="2000" b="1" spc="-70" dirty="0">
                <a:solidFill>
                  <a:srgbClr val="C00000"/>
                </a:solidFill>
                <a:latin typeface="Tahoma"/>
                <a:cs typeface="Tahoma"/>
              </a:rPr>
              <a:t>Dr.</a:t>
            </a:r>
            <a:r>
              <a:rPr sz="2000" b="1" spc="-295" dirty="0">
                <a:solidFill>
                  <a:srgbClr val="C00000"/>
                </a:solidFill>
                <a:latin typeface="Tahoma"/>
                <a:cs typeface="Tahoma"/>
              </a:rPr>
              <a:t> </a:t>
            </a:r>
            <a:r>
              <a:rPr lang="en-IN" sz="2000" b="1" spc="-295">
                <a:solidFill>
                  <a:srgbClr val="C00000"/>
                </a:solidFill>
                <a:latin typeface="Tahoma"/>
                <a:cs typeface="Tahoma"/>
              </a:rPr>
              <a:t>K  </a:t>
            </a:r>
            <a:r>
              <a:rPr lang="en-IN" sz="2000" b="1" spc="-295" dirty="0">
                <a:solidFill>
                  <a:srgbClr val="C00000"/>
                </a:solidFill>
                <a:latin typeface="Tahoma"/>
                <a:cs typeface="Tahoma"/>
              </a:rPr>
              <a:t>E   Purushothaman</a:t>
            </a:r>
            <a:endParaRPr sz="2000" dirty="0">
              <a:latin typeface="Tahoma"/>
              <a:cs typeface="Tahoma"/>
            </a:endParaRPr>
          </a:p>
          <a:p>
            <a:pPr algn="ctr">
              <a:lnSpc>
                <a:spcPct val="100000"/>
              </a:lnSpc>
              <a:spcBef>
                <a:spcPts val="1205"/>
              </a:spcBef>
            </a:pPr>
            <a:r>
              <a:rPr lang="en-IN" sz="2000" b="1" spc="-10" dirty="0">
                <a:solidFill>
                  <a:srgbClr val="C00000"/>
                </a:solidFill>
                <a:latin typeface="Tahoma"/>
                <a:cs typeface="Tahoma"/>
              </a:rPr>
              <a:t>Associate </a:t>
            </a:r>
            <a:r>
              <a:rPr sz="2000" b="1" spc="-10" dirty="0">
                <a:solidFill>
                  <a:srgbClr val="C00000"/>
                </a:solidFill>
                <a:latin typeface="Tahoma"/>
                <a:cs typeface="Tahoma"/>
              </a:rPr>
              <a:t>Professor</a:t>
            </a:r>
            <a:endParaRPr sz="2000" dirty="0">
              <a:latin typeface="Tahoma"/>
              <a:cs typeface="Tahoma"/>
            </a:endParaRPr>
          </a:p>
        </p:txBody>
      </p:sp>
      <p:pic>
        <p:nvPicPr>
          <p:cNvPr id="6" name="object 6"/>
          <p:cNvPicPr/>
          <p:nvPr/>
        </p:nvPicPr>
        <p:blipFill>
          <a:blip r:embed="rId2" cstate="print"/>
          <a:stretch>
            <a:fillRect/>
          </a:stretch>
        </p:blipFill>
        <p:spPr>
          <a:xfrm>
            <a:off x="463423" y="137032"/>
            <a:ext cx="1490980" cy="1490980"/>
          </a:xfrm>
          <a:prstGeom prst="rect">
            <a:avLst/>
          </a:prstGeom>
        </p:spPr>
      </p:pic>
      <p:sp>
        <p:nvSpPr>
          <p:cNvPr id="7" name="object 7" descr="$PPTXTitle"/>
          <p:cNvSpPr txBox="1">
            <a:spLocks noGrp="1"/>
          </p:cNvSpPr>
          <p:nvPr>
            <p:ph type="title"/>
          </p:nvPr>
        </p:nvSpPr>
        <p:spPr>
          <a:xfrm>
            <a:off x="5129020" y="274701"/>
            <a:ext cx="1957579" cy="320601"/>
          </a:xfrm>
          <a:prstGeom prst="rect">
            <a:avLst/>
          </a:prstGeom>
        </p:spPr>
        <p:txBody>
          <a:bodyPr vert="horz" wrap="square" lIns="0" tIns="12700" rIns="0" bIns="0" rtlCol="0">
            <a:spAutoFit/>
          </a:bodyPr>
          <a:lstStyle/>
          <a:p>
            <a:pPr marL="12700">
              <a:lnSpc>
                <a:spcPct val="100000"/>
              </a:lnSpc>
              <a:spcBef>
                <a:spcPts val="100"/>
              </a:spcBef>
            </a:pPr>
            <a:r>
              <a:rPr sz="2000" spc="-145" dirty="0">
                <a:solidFill>
                  <a:srgbClr val="C00000"/>
                </a:solidFill>
              </a:rPr>
              <a:t>Final</a:t>
            </a:r>
            <a:r>
              <a:rPr sz="2000" spc="-365" dirty="0">
                <a:solidFill>
                  <a:srgbClr val="C00000"/>
                </a:solidFill>
              </a:rPr>
              <a:t> </a:t>
            </a:r>
            <a:r>
              <a:rPr lang="en-IN" sz="2000" spc="-365" dirty="0">
                <a:solidFill>
                  <a:srgbClr val="C00000"/>
                </a:solidFill>
              </a:rPr>
              <a:t>  </a:t>
            </a:r>
            <a:r>
              <a:rPr sz="2000" spc="-10" dirty="0">
                <a:solidFill>
                  <a:srgbClr val="C00000"/>
                </a:solidFill>
              </a:rPr>
              <a:t>Review</a:t>
            </a:r>
            <a:endParaRPr sz="2000" dirty="0"/>
          </a:p>
        </p:txBody>
      </p:sp>
      <p:sp>
        <p:nvSpPr>
          <p:cNvPr id="8" name="object 8"/>
          <p:cNvSpPr txBox="1"/>
          <p:nvPr/>
        </p:nvSpPr>
        <p:spPr>
          <a:xfrm>
            <a:off x="824585" y="516483"/>
            <a:ext cx="9443720" cy="3885679"/>
          </a:xfrm>
          <a:prstGeom prst="rect">
            <a:avLst/>
          </a:prstGeom>
        </p:spPr>
        <p:txBody>
          <a:bodyPr vert="horz" wrap="square" lIns="0" tIns="12700" rIns="0" bIns="0" rtlCol="0">
            <a:spAutoFit/>
          </a:bodyPr>
          <a:lstStyle/>
          <a:p>
            <a:pPr marL="1228725" marR="923925" indent="1303020">
              <a:lnSpc>
                <a:spcPct val="150000"/>
              </a:lnSpc>
              <a:spcBef>
                <a:spcPts val="100"/>
              </a:spcBef>
            </a:pPr>
            <a:r>
              <a:rPr sz="2000" b="1" spc="-25" dirty="0">
                <a:solidFill>
                  <a:srgbClr val="C00000"/>
                </a:solidFill>
                <a:latin typeface="Tahoma"/>
                <a:cs typeface="Tahoma"/>
              </a:rPr>
              <a:t>Major</a:t>
            </a:r>
            <a:r>
              <a:rPr sz="2000" b="1" spc="-5" dirty="0">
                <a:solidFill>
                  <a:srgbClr val="C00000"/>
                </a:solidFill>
                <a:latin typeface="Tahoma"/>
                <a:cs typeface="Tahoma"/>
              </a:rPr>
              <a:t> </a:t>
            </a:r>
            <a:r>
              <a:rPr sz="2000" b="1" spc="-75" dirty="0">
                <a:solidFill>
                  <a:srgbClr val="C00000"/>
                </a:solidFill>
                <a:latin typeface="Tahoma"/>
                <a:cs typeface="Tahoma"/>
              </a:rPr>
              <a:t>Project</a:t>
            </a:r>
            <a:r>
              <a:rPr sz="2000" b="1" spc="-95" dirty="0">
                <a:solidFill>
                  <a:srgbClr val="C00000"/>
                </a:solidFill>
                <a:latin typeface="Tahoma"/>
                <a:cs typeface="Tahoma"/>
              </a:rPr>
              <a:t> </a:t>
            </a:r>
            <a:r>
              <a:rPr sz="2000" b="1" spc="-110" dirty="0">
                <a:solidFill>
                  <a:srgbClr val="C00000"/>
                </a:solidFill>
                <a:latin typeface="Tahoma"/>
                <a:cs typeface="Tahoma"/>
              </a:rPr>
              <a:t>winter</a:t>
            </a:r>
            <a:r>
              <a:rPr sz="2000" b="1" spc="-225" dirty="0">
                <a:solidFill>
                  <a:srgbClr val="C00000"/>
                </a:solidFill>
                <a:latin typeface="Tahoma"/>
                <a:cs typeface="Tahoma"/>
              </a:rPr>
              <a:t> </a:t>
            </a:r>
            <a:r>
              <a:rPr sz="2000" b="1" spc="-110" dirty="0">
                <a:solidFill>
                  <a:srgbClr val="C00000"/>
                </a:solidFill>
                <a:latin typeface="Tahoma"/>
                <a:cs typeface="Tahoma"/>
              </a:rPr>
              <a:t>Semester-</a:t>
            </a:r>
            <a:r>
              <a:rPr sz="2000" b="1" spc="-155" dirty="0">
                <a:solidFill>
                  <a:srgbClr val="C00000"/>
                </a:solidFill>
                <a:latin typeface="Tahoma"/>
                <a:cs typeface="Tahoma"/>
              </a:rPr>
              <a:t>2025-</a:t>
            </a:r>
            <a:r>
              <a:rPr sz="2000" b="1" spc="-25" dirty="0">
                <a:solidFill>
                  <a:srgbClr val="C00000"/>
                </a:solidFill>
                <a:latin typeface="Tahoma"/>
                <a:cs typeface="Tahoma"/>
              </a:rPr>
              <a:t>26 </a:t>
            </a:r>
            <a:r>
              <a:rPr sz="2000" b="1" spc="-70" dirty="0">
                <a:solidFill>
                  <a:srgbClr val="C00000"/>
                </a:solidFill>
                <a:latin typeface="Tahoma"/>
                <a:cs typeface="Tahoma"/>
              </a:rPr>
              <a:t>Department</a:t>
            </a:r>
            <a:r>
              <a:rPr sz="2000" b="1" spc="-140" dirty="0">
                <a:solidFill>
                  <a:srgbClr val="C00000"/>
                </a:solidFill>
                <a:latin typeface="Tahoma"/>
                <a:cs typeface="Tahoma"/>
              </a:rPr>
              <a:t> </a:t>
            </a:r>
            <a:r>
              <a:rPr sz="2000" b="1" dirty="0">
                <a:solidFill>
                  <a:srgbClr val="C00000"/>
                </a:solidFill>
                <a:latin typeface="Tahoma"/>
                <a:cs typeface="Tahoma"/>
              </a:rPr>
              <a:t>of</a:t>
            </a:r>
            <a:r>
              <a:rPr sz="2000" b="1" spc="-25" dirty="0">
                <a:solidFill>
                  <a:srgbClr val="C00000"/>
                </a:solidFill>
                <a:latin typeface="Tahoma"/>
                <a:cs typeface="Tahoma"/>
              </a:rPr>
              <a:t> </a:t>
            </a:r>
            <a:r>
              <a:rPr sz="2000" b="1" spc="-70" dirty="0">
                <a:solidFill>
                  <a:srgbClr val="C00000"/>
                </a:solidFill>
                <a:latin typeface="Tahoma"/>
                <a:cs typeface="Tahoma"/>
              </a:rPr>
              <a:t>Electronics</a:t>
            </a:r>
            <a:r>
              <a:rPr sz="2000" b="1" spc="-204" dirty="0">
                <a:solidFill>
                  <a:srgbClr val="C00000"/>
                </a:solidFill>
                <a:latin typeface="Tahoma"/>
                <a:cs typeface="Tahoma"/>
              </a:rPr>
              <a:t> </a:t>
            </a:r>
            <a:r>
              <a:rPr sz="2000" b="1" dirty="0">
                <a:solidFill>
                  <a:srgbClr val="C00000"/>
                </a:solidFill>
                <a:latin typeface="Tahoma"/>
                <a:cs typeface="Tahoma"/>
              </a:rPr>
              <a:t>and</a:t>
            </a:r>
            <a:r>
              <a:rPr sz="2000" b="1" spc="20" dirty="0">
                <a:solidFill>
                  <a:srgbClr val="C00000"/>
                </a:solidFill>
                <a:latin typeface="Tahoma"/>
                <a:cs typeface="Tahoma"/>
              </a:rPr>
              <a:t> </a:t>
            </a:r>
            <a:r>
              <a:rPr sz="2000" b="1" spc="-35" dirty="0">
                <a:solidFill>
                  <a:srgbClr val="C00000"/>
                </a:solidFill>
                <a:latin typeface="Tahoma"/>
                <a:cs typeface="Tahoma"/>
              </a:rPr>
              <a:t>Communication</a:t>
            </a:r>
            <a:r>
              <a:rPr sz="2000" b="1" spc="-95" dirty="0">
                <a:solidFill>
                  <a:srgbClr val="C00000"/>
                </a:solidFill>
                <a:latin typeface="Tahoma"/>
                <a:cs typeface="Tahoma"/>
              </a:rPr>
              <a:t> </a:t>
            </a:r>
            <a:r>
              <a:rPr sz="2000" b="1" spc="-10" dirty="0">
                <a:solidFill>
                  <a:srgbClr val="C00000"/>
                </a:solidFill>
                <a:latin typeface="Tahoma"/>
                <a:cs typeface="Tahoma"/>
              </a:rPr>
              <a:t>Engineering</a:t>
            </a:r>
            <a:endParaRPr sz="2000" dirty="0">
              <a:latin typeface="Tahoma"/>
              <a:cs typeface="Tahoma"/>
            </a:endParaRPr>
          </a:p>
          <a:p>
            <a:pPr>
              <a:lnSpc>
                <a:spcPct val="100000"/>
              </a:lnSpc>
              <a:spcBef>
                <a:spcPts val="1085"/>
              </a:spcBef>
            </a:pPr>
            <a:endParaRPr sz="2000" dirty="0">
              <a:latin typeface="Tahoma"/>
              <a:cs typeface="Tahoma"/>
            </a:endParaRPr>
          </a:p>
          <a:p>
            <a:pPr marL="1092835" algn="ctr">
              <a:lnSpc>
                <a:spcPct val="100000"/>
              </a:lnSpc>
              <a:spcBef>
                <a:spcPts val="5"/>
              </a:spcBef>
            </a:pPr>
            <a:r>
              <a:rPr sz="2000" b="1" spc="-30" dirty="0">
                <a:solidFill>
                  <a:srgbClr val="C00000"/>
                </a:solidFill>
                <a:latin typeface="Tahoma"/>
                <a:cs typeface="Tahoma"/>
              </a:rPr>
              <a:t>Title:</a:t>
            </a:r>
            <a:r>
              <a:rPr lang="en-IN" sz="2000" b="1" spc="-10" dirty="0">
                <a:solidFill>
                  <a:schemeClr val="tx1"/>
                </a:solidFill>
                <a:latin typeface="Verdana"/>
                <a:cs typeface="Tahoma"/>
              </a:rPr>
              <a:t>Edge Based Traffic Data Aggregation And Network        Load Optimization For Smart Cities</a:t>
            </a:r>
            <a:endParaRPr sz="2000" dirty="0">
              <a:solidFill>
                <a:schemeClr val="tx1"/>
              </a:solidFill>
              <a:latin typeface="Verdana"/>
              <a:cs typeface="Verdana"/>
            </a:endParaRPr>
          </a:p>
          <a:p>
            <a:pPr marL="3804920" marR="3092450" indent="-29209" algn="just">
              <a:lnSpc>
                <a:spcPts val="4010"/>
              </a:lnSpc>
              <a:spcBef>
                <a:spcPts val="185"/>
              </a:spcBef>
            </a:pPr>
            <a:r>
              <a:rPr sz="2000" b="1" spc="-70" dirty="0">
                <a:solidFill>
                  <a:srgbClr val="C00000"/>
                </a:solidFill>
                <a:latin typeface="Tahoma"/>
                <a:cs typeface="Tahoma"/>
              </a:rPr>
              <a:t>Domain:</a:t>
            </a:r>
            <a:r>
              <a:rPr sz="2000" b="1" spc="-114" dirty="0">
                <a:solidFill>
                  <a:srgbClr val="C00000"/>
                </a:solidFill>
                <a:latin typeface="Tahoma"/>
                <a:cs typeface="Tahoma"/>
              </a:rPr>
              <a:t> </a:t>
            </a:r>
            <a:r>
              <a:rPr sz="2000" b="1" spc="-10" dirty="0">
                <a:solidFill>
                  <a:srgbClr val="C00000"/>
                </a:solidFill>
                <a:latin typeface="Tahoma"/>
                <a:cs typeface="Tahoma"/>
              </a:rPr>
              <a:t>Networking </a:t>
            </a:r>
            <a:r>
              <a:rPr sz="2000" b="1" spc="-90" dirty="0">
                <a:solidFill>
                  <a:srgbClr val="C00000"/>
                </a:solidFill>
                <a:latin typeface="Tahoma"/>
                <a:cs typeface="Tahoma"/>
              </a:rPr>
              <a:t>Date: </a:t>
            </a:r>
            <a:r>
              <a:rPr sz="2000" b="1" spc="-120" dirty="0">
                <a:solidFill>
                  <a:srgbClr val="C00000"/>
                </a:solidFill>
                <a:latin typeface="Tahoma"/>
                <a:cs typeface="Tahoma"/>
              </a:rPr>
              <a:t>08-</a:t>
            </a:r>
            <a:r>
              <a:rPr sz="2000" b="1" spc="-145" dirty="0">
                <a:solidFill>
                  <a:srgbClr val="C00000"/>
                </a:solidFill>
                <a:latin typeface="Tahoma"/>
                <a:cs typeface="Tahoma"/>
              </a:rPr>
              <a:t>05-</a:t>
            </a:r>
            <a:r>
              <a:rPr sz="2000" b="1" spc="-20" dirty="0">
                <a:solidFill>
                  <a:srgbClr val="C00000"/>
                </a:solidFill>
                <a:latin typeface="Tahoma"/>
                <a:cs typeface="Tahoma"/>
              </a:rPr>
              <a:t>2026</a:t>
            </a:r>
            <a:endParaRPr sz="2000" dirty="0">
              <a:latin typeface="Tahoma"/>
              <a:cs typeface="Tahoma"/>
            </a:endParaRPr>
          </a:p>
          <a:p>
            <a:pPr>
              <a:lnSpc>
                <a:spcPct val="100000"/>
              </a:lnSpc>
              <a:spcBef>
                <a:spcPts val="1680"/>
              </a:spcBef>
            </a:pPr>
            <a:endParaRPr sz="2000" dirty="0">
              <a:latin typeface="Tahoma"/>
              <a:cs typeface="Tahoma"/>
            </a:endParaRPr>
          </a:p>
          <a:p>
            <a:pPr marL="12700">
              <a:lnSpc>
                <a:spcPct val="100000"/>
              </a:lnSpc>
              <a:spcBef>
                <a:spcPts val="5"/>
              </a:spcBef>
            </a:pPr>
            <a:r>
              <a:rPr sz="2000" b="1" spc="-75" dirty="0">
                <a:solidFill>
                  <a:srgbClr val="C00000"/>
                </a:solidFill>
                <a:latin typeface="Tahoma"/>
                <a:cs typeface="Tahoma"/>
              </a:rPr>
              <a:t>Project</a:t>
            </a:r>
            <a:r>
              <a:rPr sz="2000" b="1" spc="-260" dirty="0">
                <a:solidFill>
                  <a:srgbClr val="C00000"/>
                </a:solidFill>
                <a:latin typeface="Tahoma"/>
                <a:cs typeface="Tahoma"/>
              </a:rPr>
              <a:t> </a:t>
            </a:r>
            <a:r>
              <a:rPr sz="2000" b="1" spc="-45" dirty="0">
                <a:solidFill>
                  <a:srgbClr val="C00000"/>
                </a:solidFill>
                <a:latin typeface="Tahoma"/>
                <a:cs typeface="Tahoma"/>
              </a:rPr>
              <a:t>Team</a:t>
            </a:r>
            <a:r>
              <a:rPr sz="2000" b="1" spc="-35" dirty="0">
                <a:solidFill>
                  <a:srgbClr val="C00000"/>
                </a:solidFill>
                <a:latin typeface="Tahoma"/>
                <a:cs typeface="Tahoma"/>
              </a:rPr>
              <a:t> </a:t>
            </a:r>
            <a:r>
              <a:rPr sz="2000" b="1" spc="-10" dirty="0">
                <a:solidFill>
                  <a:srgbClr val="C00000"/>
                </a:solidFill>
                <a:latin typeface="Tahoma"/>
                <a:cs typeface="Tahoma"/>
              </a:rPr>
              <a:t>Members</a:t>
            </a:r>
            <a:endParaRPr sz="2000" dirty="0">
              <a:latin typeface="Tahoma"/>
              <a:cs typeface="Tahoma"/>
            </a:endParaRPr>
          </a:p>
        </p:txBody>
      </p:sp>
      <p:sp>
        <p:nvSpPr>
          <p:cNvPr id="9" name="object 9"/>
          <p:cNvSpPr txBox="1"/>
          <p:nvPr/>
        </p:nvSpPr>
        <p:spPr>
          <a:xfrm>
            <a:off x="2848736" y="6535318"/>
            <a:ext cx="5694680"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006DC0"/>
                </a:solidFill>
                <a:latin typeface="Verdana"/>
                <a:cs typeface="Verdana"/>
              </a:rPr>
              <a:t>Vel</a:t>
            </a:r>
            <a:r>
              <a:rPr sz="1200" spc="-105" dirty="0">
                <a:solidFill>
                  <a:srgbClr val="006DC0"/>
                </a:solidFill>
                <a:latin typeface="Verdana"/>
                <a:cs typeface="Verdana"/>
              </a:rPr>
              <a:t> </a:t>
            </a:r>
            <a:r>
              <a:rPr sz="1200" spc="-25" dirty="0">
                <a:solidFill>
                  <a:srgbClr val="006DC0"/>
                </a:solidFill>
                <a:latin typeface="Verdana"/>
                <a:cs typeface="Verdana"/>
              </a:rPr>
              <a:t>Tech</a:t>
            </a:r>
            <a:r>
              <a:rPr sz="1200" spc="-105" dirty="0">
                <a:solidFill>
                  <a:srgbClr val="006DC0"/>
                </a:solidFill>
                <a:latin typeface="Verdana"/>
                <a:cs typeface="Verdana"/>
              </a:rPr>
              <a:t> </a:t>
            </a:r>
            <a:r>
              <a:rPr sz="1200" spc="-10" dirty="0">
                <a:solidFill>
                  <a:srgbClr val="006DC0"/>
                </a:solidFill>
                <a:latin typeface="Verdana"/>
                <a:cs typeface="Verdana"/>
              </a:rPr>
              <a:t>Rangarajan</a:t>
            </a:r>
            <a:r>
              <a:rPr sz="1200" spc="70" dirty="0">
                <a:solidFill>
                  <a:srgbClr val="006DC0"/>
                </a:solidFill>
                <a:latin typeface="Verdana"/>
                <a:cs typeface="Verdana"/>
              </a:rPr>
              <a:t> </a:t>
            </a:r>
            <a:r>
              <a:rPr sz="1200" spc="-70" dirty="0">
                <a:solidFill>
                  <a:srgbClr val="006DC0"/>
                </a:solidFill>
                <a:latin typeface="Verdana"/>
                <a:cs typeface="Verdana"/>
              </a:rPr>
              <a:t>Dr.</a:t>
            </a:r>
            <a:r>
              <a:rPr sz="1200" spc="-235" dirty="0">
                <a:solidFill>
                  <a:srgbClr val="006DC0"/>
                </a:solidFill>
                <a:latin typeface="Verdana"/>
                <a:cs typeface="Verdana"/>
              </a:rPr>
              <a:t> </a:t>
            </a:r>
            <a:r>
              <a:rPr sz="1200" spc="-25" dirty="0">
                <a:solidFill>
                  <a:srgbClr val="006DC0"/>
                </a:solidFill>
                <a:latin typeface="Verdana"/>
                <a:cs typeface="Verdana"/>
              </a:rPr>
              <a:t>Sagunthala</a:t>
            </a:r>
            <a:r>
              <a:rPr sz="1200" spc="30" dirty="0">
                <a:solidFill>
                  <a:srgbClr val="006DC0"/>
                </a:solidFill>
                <a:latin typeface="Verdana"/>
                <a:cs typeface="Verdana"/>
              </a:rPr>
              <a:t> </a:t>
            </a:r>
            <a:r>
              <a:rPr sz="1200" spc="-45" dirty="0">
                <a:solidFill>
                  <a:srgbClr val="006DC0"/>
                </a:solidFill>
                <a:latin typeface="Verdana"/>
                <a:cs typeface="Verdana"/>
              </a:rPr>
              <a:t>R&amp;D</a:t>
            </a:r>
            <a:r>
              <a:rPr sz="1200" spc="-160" dirty="0">
                <a:solidFill>
                  <a:srgbClr val="006DC0"/>
                </a:solidFill>
                <a:latin typeface="Verdana"/>
                <a:cs typeface="Verdana"/>
              </a:rPr>
              <a:t> </a:t>
            </a:r>
            <a:r>
              <a:rPr sz="1200" spc="-100" dirty="0">
                <a:solidFill>
                  <a:srgbClr val="006DC0"/>
                </a:solidFill>
                <a:latin typeface="Verdana"/>
                <a:cs typeface="Verdana"/>
              </a:rPr>
              <a:t>Institute</a:t>
            </a:r>
            <a:r>
              <a:rPr sz="1200" spc="-130" dirty="0">
                <a:solidFill>
                  <a:srgbClr val="006DC0"/>
                </a:solidFill>
                <a:latin typeface="Verdana"/>
                <a:cs typeface="Verdana"/>
              </a:rPr>
              <a:t> </a:t>
            </a:r>
            <a:r>
              <a:rPr sz="1200" dirty="0">
                <a:solidFill>
                  <a:srgbClr val="006DC0"/>
                </a:solidFill>
                <a:latin typeface="Verdana"/>
                <a:cs typeface="Verdana"/>
              </a:rPr>
              <a:t>of</a:t>
            </a:r>
            <a:r>
              <a:rPr sz="1200" spc="-65" dirty="0">
                <a:solidFill>
                  <a:srgbClr val="006DC0"/>
                </a:solidFill>
                <a:latin typeface="Verdana"/>
                <a:cs typeface="Verdana"/>
              </a:rPr>
              <a:t> </a:t>
            </a:r>
            <a:r>
              <a:rPr sz="1200" spc="-20" dirty="0">
                <a:solidFill>
                  <a:srgbClr val="006DC0"/>
                </a:solidFill>
                <a:latin typeface="Verdana"/>
                <a:cs typeface="Verdana"/>
              </a:rPr>
              <a:t>Science</a:t>
            </a:r>
            <a:r>
              <a:rPr sz="1200" spc="-60" dirty="0">
                <a:solidFill>
                  <a:srgbClr val="006DC0"/>
                </a:solidFill>
                <a:latin typeface="Verdana"/>
                <a:cs typeface="Verdana"/>
              </a:rPr>
              <a:t> </a:t>
            </a:r>
            <a:r>
              <a:rPr sz="1200" dirty="0">
                <a:solidFill>
                  <a:srgbClr val="006DC0"/>
                </a:solidFill>
                <a:latin typeface="Verdana"/>
                <a:cs typeface="Verdana"/>
              </a:rPr>
              <a:t>and</a:t>
            </a:r>
            <a:r>
              <a:rPr sz="1200" spc="-45" dirty="0">
                <a:solidFill>
                  <a:srgbClr val="006DC0"/>
                </a:solidFill>
                <a:latin typeface="Verdana"/>
                <a:cs typeface="Verdana"/>
              </a:rPr>
              <a:t> </a:t>
            </a:r>
            <a:r>
              <a:rPr sz="1200" spc="-10" dirty="0">
                <a:solidFill>
                  <a:srgbClr val="006DC0"/>
                </a:solidFill>
                <a:latin typeface="Verdana"/>
                <a:cs typeface="Verdana"/>
              </a:rPr>
              <a:t>Technology</a:t>
            </a:r>
            <a:endParaRPr sz="1200">
              <a:latin typeface="Verdana"/>
              <a:cs typeface="Verdana"/>
            </a:endParaRPr>
          </a:p>
        </p:txBody>
      </p:sp>
      <p:sp>
        <p:nvSpPr>
          <p:cNvPr id="10" name="object 10"/>
          <p:cNvSpPr txBox="1"/>
          <p:nvPr/>
        </p:nvSpPr>
        <p:spPr>
          <a:xfrm>
            <a:off x="10855197" y="6569150"/>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68686"/>
                </a:solidFill>
                <a:latin typeface="Verdana"/>
                <a:cs typeface="Verdana"/>
              </a:rPr>
              <a:t>1</a:t>
            </a:r>
            <a:endParaRPr sz="1200">
              <a:latin typeface="Verdana"/>
              <a:cs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23561" y="483488"/>
            <a:ext cx="2211705" cy="696595"/>
          </a:xfrm>
          <a:prstGeom prst="rect">
            <a:avLst/>
          </a:prstGeom>
        </p:spPr>
        <p:txBody>
          <a:bodyPr vert="horz" wrap="square" lIns="0" tIns="13335" rIns="0" bIns="0" rtlCol="0">
            <a:spAutoFit/>
          </a:bodyPr>
          <a:lstStyle/>
          <a:p>
            <a:pPr marL="12700">
              <a:lnSpc>
                <a:spcPct val="100000"/>
              </a:lnSpc>
              <a:spcBef>
                <a:spcPts val="105"/>
              </a:spcBef>
            </a:pPr>
            <a:r>
              <a:rPr spc="-45" dirty="0"/>
              <a:t>Content</a:t>
            </a:r>
          </a:p>
        </p:txBody>
      </p:sp>
      <p:sp>
        <p:nvSpPr>
          <p:cNvPr id="3" name="object 3"/>
          <p:cNvSpPr txBox="1"/>
          <p:nvPr/>
        </p:nvSpPr>
        <p:spPr>
          <a:xfrm>
            <a:off x="630007" y="1536820"/>
            <a:ext cx="6562090" cy="4126229"/>
          </a:xfrm>
          <a:prstGeom prst="rect">
            <a:avLst/>
          </a:prstGeom>
        </p:spPr>
        <p:txBody>
          <a:bodyPr vert="horz" wrap="square" lIns="0" tIns="50800" rIns="0" bIns="0" rtlCol="0">
            <a:spAutoFit/>
          </a:bodyPr>
          <a:lstStyle/>
          <a:p>
            <a:pPr marL="354965" indent="-342265">
              <a:lnSpc>
                <a:spcPct val="100000"/>
              </a:lnSpc>
              <a:spcBef>
                <a:spcPts val="400"/>
              </a:spcBef>
              <a:buFont typeface="Arial MT"/>
              <a:buChar char="•"/>
              <a:tabLst>
                <a:tab pos="354965" algn="l"/>
              </a:tabLst>
            </a:pPr>
            <a:r>
              <a:rPr sz="2400" spc="-10" dirty="0">
                <a:latin typeface="Verdana"/>
                <a:cs typeface="Verdana"/>
              </a:rPr>
              <a:t>Abstract</a:t>
            </a:r>
            <a:endParaRPr sz="2400" dirty="0">
              <a:latin typeface="Verdana"/>
              <a:cs typeface="Verdana"/>
            </a:endParaRPr>
          </a:p>
          <a:p>
            <a:pPr marL="354965" indent="-342265">
              <a:lnSpc>
                <a:spcPct val="100000"/>
              </a:lnSpc>
              <a:spcBef>
                <a:spcPts val="300"/>
              </a:spcBef>
              <a:buFont typeface="Arial MT"/>
              <a:buChar char="•"/>
              <a:tabLst>
                <a:tab pos="354965" algn="l"/>
              </a:tabLst>
            </a:pPr>
            <a:r>
              <a:rPr sz="2400" spc="-55" dirty="0">
                <a:latin typeface="Verdana"/>
                <a:cs typeface="Verdana"/>
              </a:rPr>
              <a:t>Motivation</a:t>
            </a:r>
            <a:r>
              <a:rPr sz="2400" spc="-114" dirty="0">
                <a:latin typeface="Verdana"/>
                <a:cs typeface="Verdana"/>
              </a:rPr>
              <a:t> </a:t>
            </a:r>
            <a:r>
              <a:rPr sz="2400" dirty="0">
                <a:latin typeface="Verdana"/>
                <a:cs typeface="Verdana"/>
              </a:rPr>
              <a:t>and</a:t>
            </a:r>
            <a:r>
              <a:rPr sz="2400" spc="30" dirty="0">
                <a:latin typeface="Verdana"/>
                <a:cs typeface="Verdana"/>
              </a:rPr>
              <a:t> </a:t>
            </a:r>
            <a:r>
              <a:rPr sz="2400" spc="-10" dirty="0">
                <a:latin typeface="Verdana"/>
                <a:cs typeface="Verdana"/>
              </a:rPr>
              <a:t>Introduction</a:t>
            </a:r>
            <a:endParaRPr sz="2400" dirty="0">
              <a:latin typeface="Verdana"/>
              <a:cs typeface="Verdana"/>
            </a:endParaRPr>
          </a:p>
          <a:p>
            <a:pPr marL="354965" indent="-342265">
              <a:lnSpc>
                <a:spcPct val="100000"/>
              </a:lnSpc>
              <a:spcBef>
                <a:spcPts val="300"/>
              </a:spcBef>
              <a:buFont typeface="Arial MT"/>
              <a:buChar char="•"/>
              <a:tabLst>
                <a:tab pos="354965" algn="l"/>
              </a:tabLst>
            </a:pPr>
            <a:r>
              <a:rPr sz="2400" spc="-10" dirty="0">
                <a:latin typeface="Verdana"/>
                <a:cs typeface="Verdana"/>
              </a:rPr>
              <a:t>Objective</a:t>
            </a:r>
            <a:endParaRPr sz="2400" dirty="0">
              <a:latin typeface="Verdana"/>
              <a:cs typeface="Verdana"/>
            </a:endParaRPr>
          </a:p>
          <a:p>
            <a:pPr marL="354965" indent="-342265">
              <a:lnSpc>
                <a:spcPct val="100000"/>
              </a:lnSpc>
              <a:spcBef>
                <a:spcPts val="300"/>
              </a:spcBef>
              <a:buFont typeface="Arial MT"/>
              <a:buChar char="•"/>
              <a:tabLst>
                <a:tab pos="354965" algn="l"/>
              </a:tabLst>
            </a:pPr>
            <a:r>
              <a:rPr sz="2400" spc="-114" dirty="0">
                <a:latin typeface="Verdana"/>
                <a:cs typeface="Verdana"/>
              </a:rPr>
              <a:t>Literature</a:t>
            </a:r>
            <a:r>
              <a:rPr sz="2400" spc="-340" dirty="0">
                <a:latin typeface="Verdana"/>
                <a:cs typeface="Verdana"/>
              </a:rPr>
              <a:t> </a:t>
            </a:r>
            <a:r>
              <a:rPr sz="2400" spc="-10" dirty="0">
                <a:latin typeface="Verdana"/>
                <a:cs typeface="Verdana"/>
              </a:rPr>
              <a:t>survey</a:t>
            </a:r>
            <a:endParaRPr sz="2400" dirty="0">
              <a:latin typeface="Verdana"/>
              <a:cs typeface="Verdana"/>
            </a:endParaRPr>
          </a:p>
          <a:p>
            <a:pPr marL="354965" indent="-342265">
              <a:lnSpc>
                <a:spcPct val="100000"/>
              </a:lnSpc>
              <a:spcBef>
                <a:spcPts val="300"/>
              </a:spcBef>
              <a:buFont typeface="Arial MT"/>
              <a:buChar char="•"/>
              <a:tabLst>
                <a:tab pos="354965" algn="l"/>
              </a:tabLst>
            </a:pPr>
            <a:r>
              <a:rPr sz="2400" spc="-10" dirty="0">
                <a:latin typeface="Verdana"/>
                <a:cs typeface="Verdana"/>
              </a:rPr>
              <a:t>Methodology</a:t>
            </a:r>
            <a:endParaRPr sz="2400" dirty="0">
              <a:latin typeface="Verdana"/>
              <a:cs typeface="Verdana"/>
            </a:endParaRPr>
          </a:p>
          <a:p>
            <a:pPr marL="353695" indent="-340995">
              <a:lnSpc>
                <a:spcPct val="100000"/>
              </a:lnSpc>
              <a:spcBef>
                <a:spcPts val="250"/>
              </a:spcBef>
              <a:buChar char="•"/>
              <a:tabLst>
                <a:tab pos="353695" algn="l"/>
              </a:tabLst>
            </a:pPr>
            <a:r>
              <a:rPr sz="2800" spc="-10" dirty="0">
                <a:latin typeface="Arial MT"/>
                <a:cs typeface="Arial MT"/>
              </a:rPr>
              <a:t>Implementation</a:t>
            </a:r>
            <a:r>
              <a:rPr sz="2800" spc="-60" dirty="0">
                <a:latin typeface="Arial MT"/>
                <a:cs typeface="Arial MT"/>
              </a:rPr>
              <a:t> </a:t>
            </a:r>
            <a:r>
              <a:rPr sz="2800" dirty="0">
                <a:latin typeface="Arial MT"/>
                <a:cs typeface="Arial MT"/>
              </a:rPr>
              <a:t>Details</a:t>
            </a:r>
            <a:r>
              <a:rPr sz="2800" spc="-75" dirty="0">
                <a:latin typeface="Arial MT"/>
                <a:cs typeface="Arial MT"/>
              </a:rPr>
              <a:t> </a:t>
            </a:r>
            <a:r>
              <a:rPr sz="2800" dirty="0">
                <a:latin typeface="Arial MT"/>
                <a:cs typeface="Arial MT"/>
              </a:rPr>
              <a:t>and</a:t>
            </a:r>
            <a:r>
              <a:rPr sz="2800" spc="-75" dirty="0">
                <a:latin typeface="Arial MT"/>
                <a:cs typeface="Arial MT"/>
              </a:rPr>
              <a:t> </a:t>
            </a:r>
            <a:r>
              <a:rPr sz="2800" spc="-10" dirty="0">
                <a:latin typeface="Arial MT"/>
                <a:cs typeface="Arial MT"/>
              </a:rPr>
              <a:t>Description</a:t>
            </a:r>
            <a:endParaRPr sz="2800" dirty="0">
              <a:latin typeface="Arial MT"/>
              <a:cs typeface="Arial MT"/>
            </a:endParaRPr>
          </a:p>
          <a:p>
            <a:pPr marL="354965" indent="-342265">
              <a:lnSpc>
                <a:spcPct val="100000"/>
              </a:lnSpc>
              <a:spcBef>
                <a:spcPts val="355"/>
              </a:spcBef>
              <a:buFont typeface="Arial MT"/>
              <a:buChar char="•"/>
              <a:tabLst>
                <a:tab pos="354965" algn="l"/>
              </a:tabLst>
            </a:pPr>
            <a:r>
              <a:rPr sz="2400" dirty="0">
                <a:latin typeface="Verdana"/>
                <a:cs typeface="Verdana"/>
              </a:rPr>
              <a:t>Block</a:t>
            </a:r>
            <a:r>
              <a:rPr sz="2400" spc="-90" dirty="0">
                <a:latin typeface="Verdana"/>
                <a:cs typeface="Verdana"/>
              </a:rPr>
              <a:t> </a:t>
            </a:r>
            <a:r>
              <a:rPr sz="2400" spc="-10" dirty="0">
                <a:latin typeface="Verdana"/>
                <a:cs typeface="Verdana"/>
              </a:rPr>
              <a:t>Diagram</a:t>
            </a:r>
            <a:endParaRPr sz="2400" dirty="0">
              <a:latin typeface="Verdana"/>
              <a:cs typeface="Verdana"/>
            </a:endParaRPr>
          </a:p>
          <a:p>
            <a:pPr marL="354965" indent="-342265">
              <a:lnSpc>
                <a:spcPct val="100000"/>
              </a:lnSpc>
              <a:spcBef>
                <a:spcPts val="300"/>
              </a:spcBef>
              <a:buFont typeface="Arial MT"/>
              <a:buChar char="•"/>
              <a:tabLst>
                <a:tab pos="354965" algn="l"/>
              </a:tabLst>
            </a:pPr>
            <a:r>
              <a:rPr sz="2400" spc="-75" dirty="0">
                <a:latin typeface="Verdana"/>
                <a:cs typeface="Verdana"/>
              </a:rPr>
              <a:t>Software</a:t>
            </a:r>
            <a:r>
              <a:rPr sz="2400" spc="-160" dirty="0">
                <a:latin typeface="Verdana"/>
                <a:cs typeface="Verdana"/>
              </a:rPr>
              <a:t> </a:t>
            </a:r>
            <a:r>
              <a:rPr sz="2400" dirty="0">
                <a:latin typeface="Verdana"/>
                <a:cs typeface="Verdana"/>
              </a:rPr>
              <a:t>to</a:t>
            </a:r>
            <a:r>
              <a:rPr sz="2400" spc="-100" dirty="0">
                <a:latin typeface="Verdana"/>
                <a:cs typeface="Verdana"/>
              </a:rPr>
              <a:t> </a:t>
            </a:r>
            <a:r>
              <a:rPr sz="2400" dirty="0">
                <a:latin typeface="Verdana"/>
                <a:cs typeface="Verdana"/>
              </a:rPr>
              <a:t>be</a:t>
            </a:r>
            <a:r>
              <a:rPr sz="2400" spc="140" dirty="0">
                <a:latin typeface="Verdana"/>
                <a:cs typeface="Verdana"/>
              </a:rPr>
              <a:t> </a:t>
            </a:r>
            <a:r>
              <a:rPr sz="2400" spc="-20" dirty="0">
                <a:latin typeface="Verdana"/>
                <a:cs typeface="Verdana"/>
              </a:rPr>
              <a:t>used</a:t>
            </a:r>
            <a:endParaRPr sz="2400" dirty="0">
              <a:latin typeface="Verdana"/>
              <a:cs typeface="Verdana"/>
            </a:endParaRPr>
          </a:p>
          <a:p>
            <a:pPr marL="354965" indent="-342265">
              <a:lnSpc>
                <a:spcPct val="100000"/>
              </a:lnSpc>
              <a:spcBef>
                <a:spcPts val="300"/>
              </a:spcBef>
              <a:buFont typeface="Arial MT"/>
              <a:buChar char="•"/>
              <a:tabLst>
                <a:tab pos="354965" algn="l"/>
              </a:tabLst>
            </a:pPr>
            <a:r>
              <a:rPr sz="2400" spc="-40" dirty="0">
                <a:latin typeface="Verdana"/>
                <a:cs typeface="Verdana"/>
              </a:rPr>
              <a:t>Results</a:t>
            </a:r>
            <a:endParaRPr sz="2400" dirty="0">
              <a:latin typeface="Verdana"/>
              <a:cs typeface="Verdana"/>
            </a:endParaRPr>
          </a:p>
          <a:p>
            <a:pPr marL="354965" indent="-342265">
              <a:lnSpc>
                <a:spcPct val="100000"/>
              </a:lnSpc>
              <a:spcBef>
                <a:spcPts val="300"/>
              </a:spcBef>
              <a:buFont typeface="Arial MT"/>
              <a:buChar char="•"/>
              <a:tabLst>
                <a:tab pos="354965" algn="l"/>
              </a:tabLst>
            </a:pPr>
            <a:r>
              <a:rPr sz="2400" spc="-10" dirty="0">
                <a:latin typeface="Verdana"/>
                <a:cs typeface="Verdana"/>
              </a:rPr>
              <a:t>References</a:t>
            </a:r>
            <a:endParaRPr sz="2400" dirty="0">
              <a:latin typeface="Verdana"/>
              <a:cs typeface="Verdana"/>
            </a:endParaRPr>
          </a:p>
        </p:txBody>
      </p:sp>
      <p:grpSp>
        <p:nvGrpSpPr>
          <p:cNvPr id="4" name="object 4"/>
          <p:cNvGrpSpPr/>
          <p:nvPr/>
        </p:nvGrpSpPr>
        <p:grpSpPr>
          <a:xfrm>
            <a:off x="-4762" y="-1841"/>
            <a:ext cx="281305" cy="2437765"/>
            <a:chOff x="-4762" y="-1841"/>
            <a:chExt cx="281305" cy="2437765"/>
          </a:xfrm>
        </p:grpSpPr>
        <p:pic>
          <p:nvPicPr>
            <p:cNvPr id="5" name="object 5"/>
            <p:cNvPicPr/>
            <p:nvPr/>
          </p:nvPicPr>
          <p:blipFill>
            <a:blip r:embed="rId2" cstate="print"/>
            <a:stretch>
              <a:fillRect/>
            </a:stretch>
          </p:blipFill>
          <p:spPr>
            <a:xfrm>
              <a:off x="6134" y="12699"/>
              <a:ext cx="269925" cy="2422652"/>
            </a:xfrm>
            <a:prstGeom prst="rect">
              <a:avLst/>
            </a:prstGeom>
          </p:spPr>
        </p:pic>
        <p:pic>
          <p:nvPicPr>
            <p:cNvPr id="6" name="object 6"/>
            <p:cNvPicPr/>
            <p:nvPr/>
          </p:nvPicPr>
          <p:blipFill>
            <a:blip r:embed="rId3" cstate="print"/>
            <a:stretch>
              <a:fillRect/>
            </a:stretch>
          </p:blipFill>
          <p:spPr>
            <a:xfrm>
              <a:off x="0" y="2921"/>
              <a:ext cx="242392" cy="2376296"/>
            </a:xfrm>
            <a:prstGeom prst="rect">
              <a:avLst/>
            </a:prstGeom>
          </p:spPr>
        </p:pic>
        <p:sp>
          <p:nvSpPr>
            <p:cNvPr id="7" name="object 7"/>
            <p:cNvSpPr/>
            <p:nvPr/>
          </p:nvSpPr>
          <p:spPr>
            <a:xfrm>
              <a:off x="0" y="2921"/>
              <a:ext cx="242570" cy="2376805"/>
            </a:xfrm>
            <a:custGeom>
              <a:avLst/>
              <a:gdLst/>
              <a:ahLst/>
              <a:cxnLst/>
              <a:rect l="l" t="t" r="r" b="b"/>
              <a:pathLst>
                <a:path w="242570" h="2376805">
                  <a:moveTo>
                    <a:pt x="0" y="2376296"/>
                  </a:moveTo>
                  <a:lnTo>
                    <a:pt x="242392" y="2376296"/>
                  </a:lnTo>
                  <a:lnTo>
                    <a:pt x="242392" y="0"/>
                  </a:lnTo>
                  <a:lnTo>
                    <a:pt x="0" y="0"/>
                  </a:lnTo>
                  <a:lnTo>
                    <a:pt x="0" y="2376296"/>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4467092"/>
            <a:ext cx="285750" cy="2391410"/>
            <a:chOff x="11149456" y="4467092"/>
            <a:chExt cx="285750" cy="2391410"/>
          </a:xfrm>
        </p:grpSpPr>
        <p:pic>
          <p:nvPicPr>
            <p:cNvPr id="9" name="object 9"/>
            <p:cNvPicPr/>
            <p:nvPr/>
          </p:nvPicPr>
          <p:blipFill>
            <a:blip r:embed="rId4" cstate="print"/>
            <a:stretch>
              <a:fillRect/>
            </a:stretch>
          </p:blipFill>
          <p:spPr>
            <a:xfrm>
              <a:off x="11149456" y="4467092"/>
              <a:ext cx="280504" cy="2390901"/>
            </a:xfrm>
            <a:prstGeom prst="rect">
              <a:avLst/>
            </a:prstGeom>
          </p:spPr>
        </p:pic>
        <p:pic>
          <p:nvPicPr>
            <p:cNvPr id="10" name="object 10"/>
            <p:cNvPicPr/>
            <p:nvPr/>
          </p:nvPicPr>
          <p:blipFill>
            <a:blip r:embed="rId5" cstate="print"/>
            <a:stretch>
              <a:fillRect/>
            </a:stretch>
          </p:blipFill>
          <p:spPr>
            <a:xfrm>
              <a:off x="11187556" y="4475811"/>
              <a:ext cx="242392" cy="2376295"/>
            </a:xfrm>
            <a:prstGeom prst="rect">
              <a:avLst/>
            </a:prstGeom>
          </p:spPr>
        </p:pic>
        <p:sp>
          <p:nvSpPr>
            <p:cNvPr id="11" name="object 11"/>
            <p:cNvSpPr/>
            <p:nvPr/>
          </p:nvSpPr>
          <p:spPr>
            <a:xfrm>
              <a:off x="11187556" y="4475816"/>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672953" y="6431991"/>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68686"/>
                </a:solidFill>
                <a:latin typeface="Verdana"/>
                <a:cs typeface="Verdana"/>
              </a:rPr>
              <a:t>2</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006DC0"/>
                </a:solidFill>
                <a:latin typeface="Verdana"/>
                <a:cs typeface="Verdana"/>
              </a:rPr>
              <a:t>Vel</a:t>
            </a:r>
            <a:r>
              <a:rPr sz="1200" spc="-105" dirty="0">
                <a:solidFill>
                  <a:srgbClr val="006DC0"/>
                </a:solidFill>
                <a:latin typeface="Verdana"/>
                <a:cs typeface="Verdana"/>
              </a:rPr>
              <a:t> </a:t>
            </a:r>
            <a:r>
              <a:rPr sz="1200" spc="-20" dirty="0">
                <a:solidFill>
                  <a:srgbClr val="006DC0"/>
                </a:solidFill>
                <a:latin typeface="Verdana"/>
                <a:cs typeface="Verdana"/>
              </a:rPr>
              <a:t>Tech</a:t>
            </a:r>
            <a:r>
              <a:rPr sz="1200" spc="-105" dirty="0">
                <a:solidFill>
                  <a:srgbClr val="006DC0"/>
                </a:solidFill>
                <a:latin typeface="Verdana"/>
                <a:cs typeface="Verdana"/>
              </a:rPr>
              <a:t> </a:t>
            </a:r>
            <a:r>
              <a:rPr sz="1200" spc="-10" dirty="0">
                <a:solidFill>
                  <a:srgbClr val="006DC0"/>
                </a:solidFill>
                <a:latin typeface="Verdana"/>
                <a:cs typeface="Verdana"/>
              </a:rPr>
              <a:t>Rangarajan</a:t>
            </a:r>
            <a:r>
              <a:rPr sz="1200" spc="70" dirty="0">
                <a:solidFill>
                  <a:srgbClr val="006DC0"/>
                </a:solidFill>
                <a:latin typeface="Verdana"/>
                <a:cs typeface="Verdana"/>
              </a:rPr>
              <a:t> </a:t>
            </a:r>
            <a:r>
              <a:rPr sz="1200" spc="-70" dirty="0">
                <a:solidFill>
                  <a:srgbClr val="006DC0"/>
                </a:solidFill>
                <a:latin typeface="Verdana"/>
                <a:cs typeface="Verdana"/>
              </a:rPr>
              <a:t>Dr.</a:t>
            </a:r>
            <a:r>
              <a:rPr sz="1200" spc="-250" dirty="0">
                <a:solidFill>
                  <a:srgbClr val="006DC0"/>
                </a:solidFill>
                <a:latin typeface="Verdana"/>
                <a:cs typeface="Verdana"/>
              </a:rPr>
              <a:t> </a:t>
            </a:r>
            <a:r>
              <a:rPr sz="1200" spc="-25" dirty="0">
                <a:solidFill>
                  <a:srgbClr val="006DC0"/>
                </a:solidFill>
                <a:latin typeface="Verdana"/>
                <a:cs typeface="Verdana"/>
              </a:rPr>
              <a:t>Sagunthala</a:t>
            </a:r>
            <a:r>
              <a:rPr sz="1200" spc="30" dirty="0">
                <a:solidFill>
                  <a:srgbClr val="006DC0"/>
                </a:solidFill>
                <a:latin typeface="Verdana"/>
                <a:cs typeface="Verdana"/>
              </a:rPr>
              <a:t> </a:t>
            </a:r>
            <a:r>
              <a:rPr sz="1200" spc="-45" dirty="0">
                <a:solidFill>
                  <a:srgbClr val="006DC0"/>
                </a:solidFill>
                <a:latin typeface="Verdana"/>
                <a:cs typeface="Verdana"/>
              </a:rPr>
              <a:t>R&amp;D</a:t>
            </a:r>
            <a:r>
              <a:rPr sz="1200" spc="-150" dirty="0">
                <a:solidFill>
                  <a:srgbClr val="006DC0"/>
                </a:solidFill>
                <a:latin typeface="Verdana"/>
                <a:cs typeface="Verdana"/>
              </a:rPr>
              <a:t> </a:t>
            </a:r>
            <a:r>
              <a:rPr sz="1200" spc="-100" dirty="0">
                <a:solidFill>
                  <a:srgbClr val="006DC0"/>
                </a:solidFill>
                <a:latin typeface="Verdana"/>
                <a:cs typeface="Verdana"/>
              </a:rPr>
              <a:t>Institute</a:t>
            </a:r>
            <a:r>
              <a:rPr sz="1200" spc="-120" dirty="0">
                <a:solidFill>
                  <a:srgbClr val="006DC0"/>
                </a:solidFill>
                <a:latin typeface="Verdana"/>
                <a:cs typeface="Verdana"/>
              </a:rPr>
              <a:t> </a:t>
            </a:r>
            <a:r>
              <a:rPr sz="1200" dirty="0">
                <a:solidFill>
                  <a:srgbClr val="006DC0"/>
                </a:solidFill>
                <a:latin typeface="Verdana"/>
                <a:cs typeface="Verdana"/>
              </a:rPr>
              <a:t>of</a:t>
            </a:r>
            <a:r>
              <a:rPr sz="1200" spc="-80" dirty="0">
                <a:solidFill>
                  <a:srgbClr val="006DC0"/>
                </a:solidFill>
                <a:latin typeface="Verdana"/>
                <a:cs typeface="Verdana"/>
              </a:rPr>
              <a:t> </a:t>
            </a:r>
            <a:r>
              <a:rPr sz="1200" spc="-20" dirty="0">
                <a:solidFill>
                  <a:srgbClr val="006DC0"/>
                </a:solidFill>
                <a:latin typeface="Verdana"/>
                <a:cs typeface="Verdana"/>
              </a:rPr>
              <a:t>Science</a:t>
            </a:r>
            <a:r>
              <a:rPr sz="1200" spc="-70" dirty="0">
                <a:solidFill>
                  <a:srgbClr val="006DC0"/>
                </a:solidFill>
                <a:latin typeface="Verdana"/>
                <a:cs typeface="Verdana"/>
              </a:rPr>
              <a:t> </a:t>
            </a:r>
            <a:r>
              <a:rPr sz="1200" dirty="0">
                <a:solidFill>
                  <a:srgbClr val="006DC0"/>
                </a:solidFill>
                <a:latin typeface="Verdana"/>
                <a:cs typeface="Verdana"/>
              </a:rPr>
              <a:t>and</a:t>
            </a:r>
            <a:r>
              <a:rPr sz="1200" spc="-20" dirty="0">
                <a:solidFill>
                  <a:srgbClr val="006DC0"/>
                </a:solidFill>
                <a:latin typeface="Verdana"/>
                <a:cs typeface="Verdana"/>
              </a:rPr>
              <a:t> </a:t>
            </a:r>
            <a:r>
              <a:rPr sz="1200" spc="-10" dirty="0">
                <a:solidFill>
                  <a:srgbClr val="006DC0"/>
                </a:solidFill>
                <a:latin typeface="Verdana"/>
                <a:cs typeface="Verdana"/>
              </a:rPr>
              <a:t>Technology</a:t>
            </a:r>
            <a:endParaRPr sz="1200">
              <a:latin typeface="Verdana"/>
              <a:cs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03251" rIns="0" bIns="0" rtlCol="0">
            <a:spAutoFit/>
          </a:bodyPr>
          <a:lstStyle/>
          <a:p>
            <a:pPr marL="4074160">
              <a:lnSpc>
                <a:spcPct val="100000"/>
              </a:lnSpc>
              <a:spcBef>
                <a:spcPts val="105"/>
              </a:spcBef>
            </a:pPr>
            <a:r>
              <a:rPr spc="-10" dirty="0"/>
              <a:t>Abstract</a:t>
            </a:r>
          </a:p>
        </p:txBody>
      </p:sp>
      <p:sp>
        <p:nvSpPr>
          <p:cNvPr id="3" name="object 3"/>
          <p:cNvSpPr txBox="1"/>
          <p:nvPr/>
        </p:nvSpPr>
        <p:spPr>
          <a:xfrm>
            <a:off x="444195" y="1354074"/>
            <a:ext cx="10466705" cy="4937890"/>
          </a:xfrm>
          <a:prstGeom prst="rect">
            <a:avLst/>
          </a:prstGeom>
        </p:spPr>
        <p:txBody>
          <a:bodyPr vert="horz" wrap="square" lIns="0" tIns="13335" rIns="0" bIns="0" rtlCol="0">
            <a:spAutoFit/>
          </a:bodyPr>
          <a:lstStyle/>
          <a:p>
            <a:pPr marL="12700" marR="5080" algn="just">
              <a:lnSpc>
                <a:spcPct val="100000"/>
              </a:lnSpc>
              <a:spcBef>
                <a:spcPts val="105"/>
              </a:spcBef>
            </a:pPr>
            <a:r>
              <a:rPr lang="en-US" sz="2000" dirty="0">
                <a:latin typeface="Verdana"/>
                <a:cs typeface="Verdana"/>
              </a:rPr>
              <a:t>Smart cities are deploying thousands of traffic cameras at every junction to monitor vehicle flow in real time. The traditional approach of streaming raw video from every camera to a central cloud overloads the network, drives up bandwidth cost and demands heavy GPU resources. The proposed Edge-Based Traffic Data Aggregation and Network Load Optimization System solves this problem by performing vehicle detection locally at the camera using a low-cost device such as a Raspberry Pi or a normal laptop. The edge node uses YOLOv8-nano with an OpenCV background-subtraction fallback to count vehicles, classifies the junction as Low, Medium or High congestion using configurable thresholds, and transmits only the compact summary. A network optimization layer reduces traffic further using event-based transmission, a thirty-second heartbeat and </a:t>
            </a:r>
            <a:r>
              <a:rPr lang="en-US" sz="2000" dirty="0" err="1">
                <a:latin typeface="Verdana"/>
                <a:cs typeface="Verdana"/>
              </a:rPr>
              <a:t>gzip</a:t>
            </a:r>
            <a:r>
              <a:rPr lang="en-US" sz="2000" dirty="0">
                <a:latin typeface="Verdana"/>
                <a:cs typeface="Verdana"/>
              </a:rPr>
              <a:t> compression. Communication uses the lightweight MQTT publish-subscribe protocol, the central Python server stores readings in SQLite, and a </a:t>
            </a:r>
            <a:r>
              <a:rPr lang="en-US" sz="2000" dirty="0" err="1">
                <a:latin typeface="Verdana"/>
                <a:cs typeface="Verdana"/>
              </a:rPr>
              <a:t>Streamlit</a:t>
            </a:r>
            <a:r>
              <a:rPr lang="en-US" sz="2000" dirty="0">
                <a:latin typeface="Verdana"/>
                <a:cs typeface="Verdana"/>
              </a:rPr>
              <a:t> dashboard with Plotly graphs presents live status, time-series and bandwidth statistics. Experiments show over ninety percent bandwidth reduction, supporting Sustainable Development Goals 9, 11 and 13.</a:t>
            </a:r>
            <a:endParaRPr sz="2000" dirty="0">
              <a:latin typeface="Verdana"/>
              <a:cs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6691" y="104597"/>
            <a:ext cx="8941561" cy="1042720"/>
          </a:xfrm>
          <a:prstGeom prst="rect">
            <a:avLst/>
          </a:prstGeom>
        </p:spPr>
        <p:txBody>
          <a:bodyPr vert="horz" wrap="square" lIns="0" tIns="423036" rIns="0" bIns="0" rtlCol="0">
            <a:spAutoFit/>
          </a:bodyPr>
          <a:lstStyle/>
          <a:p>
            <a:pPr marL="1857375">
              <a:lnSpc>
                <a:spcPct val="100000"/>
              </a:lnSpc>
              <a:spcBef>
                <a:spcPts val="95"/>
              </a:spcBef>
            </a:pPr>
            <a:r>
              <a:rPr lang="en-IN" sz="4000" spc="-140" dirty="0"/>
              <a:t>       </a:t>
            </a:r>
            <a:r>
              <a:rPr sz="4000" spc="-105" dirty="0"/>
              <a:t> </a:t>
            </a:r>
            <a:r>
              <a:rPr sz="4000" spc="-120" dirty="0"/>
              <a:t>Introduction</a:t>
            </a:r>
            <a:endParaRPr sz="4000" dirty="0"/>
          </a:p>
        </p:txBody>
      </p:sp>
      <p:sp>
        <p:nvSpPr>
          <p:cNvPr id="3" name="object 3"/>
          <p:cNvSpPr txBox="1"/>
          <p:nvPr/>
        </p:nvSpPr>
        <p:spPr>
          <a:xfrm>
            <a:off x="392684" y="1342771"/>
            <a:ext cx="10163810" cy="4988545"/>
          </a:xfrm>
          <a:prstGeom prst="rect">
            <a:avLst/>
          </a:prstGeom>
        </p:spPr>
        <p:txBody>
          <a:bodyPr vert="horz" wrap="square" lIns="0" tIns="12700" rIns="0" bIns="0" rtlCol="0">
            <a:spAutoFit/>
          </a:bodyPr>
          <a:lstStyle/>
          <a:p>
            <a:pPr marL="350520" marR="12065" indent="-337820" algn="just">
              <a:lnSpc>
                <a:spcPct val="100000"/>
              </a:lnSpc>
              <a:spcBef>
                <a:spcPts val="100"/>
              </a:spcBef>
              <a:buFont typeface="Arial MT"/>
              <a:buChar char="•"/>
              <a:tabLst>
                <a:tab pos="355600" algn="l"/>
              </a:tabLst>
            </a:pPr>
            <a:r>
              <a:rPr lang="en-US" sz="2000" dirty="0">
                <a:latin typeface="Verdana"/>
                <a:cs typeface="Verdana"/>
              </a:rPr>
              <a:t>Cities around the world are growing rapidly and the number of vehicles on the roads is rising every year. To manage this growth, smart cities are deploying large networks of traffic cameras at every junction. The traditional approach of streaming raw video from every camera to a central cloud server overloads the network, drives up bandwidth cost and demands heavy GPU resources.</a:t>
            </a:r>
          </a:p>
          <a:p>
            <a:pPr marL="350520" marR="12065" indent="-337820" algn="just">
              <a:lnSpc>
                <a:spcPct val="100000"/>
              </a:lnSpc>
              <a:spcBef>
                <a:spcPts val="100"/>
              </a:spcBef>
              <a:buFont typeface="Arial MT"/>
              <a:buChar char="•"/>
              <a:tabLst>
                <a:tab pos="355600" algn="l"/>
              </a:tabLst>
            </a:pPr>
            <a:endParaRPr lang="en-US" sz="2000" dirty="0">
              <a:latin typeface="Verdana"/>
              <a:cs typeface="Verdana"/>
            </a:endParaRPr>
          </a:p>
          <a:p>
            <a:pPr marL="350520" marR="12065" indent="-337820" algn="just">
              <a:lnSpc>
                <a:spcPct val="100000"/>
              </a:lnSpc>
              <a:spcBef>
                <a:spcPts val="100"/>
              </a:spcBef>
              <a:buFont typeface="Arial MT"/>
              <a:buChar char="•"/>
              <a:tabLst>
                <a:tab pos="355600" algn="l"/>
              </a:tabLst>
            </a:pPr>
            <a:r>
              <a:rPr lang="en-US" sz="2000" dirty="0">
                <a:latin typeface="Verdana"/>
                <a:cs typeface="Verdana"/>
              </a:rPr>
              <a:t>Most of this data is also redundant because the central system does not need the actual video. It only needs to know how many vehicles are present and whether the traffic is light, moderate or heavy.</a:t>
            </a:r>
          </a:p>
          <a:p>
            <a:pPr marL="12700" marR="12065" algn="just">
              <a:lnSpc>
                <a:spcPct val="100000"/>
              </a:lnSpc>
              <a:spcBef>
                <a:spcPts val="100"/>
              </a:spcBef>
              <a:tabLst>
                <a:tab pos="355600" algn="l"/>
              </a:tabLst>
            </a:pPr>
            <a:r>
              <a:rPr lang="en-US" sz="2000" dirty="0">
                <a:latin typeface="Verdana"/>
                <a:cs typeface="Verdana"/>
              </a:rPr>
              <a:t> </a:t>
            </a:r>
          </a:p>
          <a:p>
            <a:pPr marL="350520" marR="12065" indent="-337820" algn="just">
              <a:lnSpc>
                <a:spcPct val="100000"/>
              </a:lnSpc>
              <a:spcBef>
                <a:spcPts val="100"/>
              </a:spcBef>
              <a:buFont typeface="Arial MT"/>
              <a:buChar char="•"/>
              <a:tabLst>
                <a:tab pos="355600" algn="l"/>
              </a:tabLst>
            </a:pPr>
            <a:r>
              <a:rPr lang="en-US" sz="2000" dirty="0">
                <a:latin typeface="Verdana"/>
                <a:cs typeface="Verdana"/>
              </a:rPr>
              <a:t>The proposed Edge-Based Traffic Data Aggregation and Network Load Optimization System solves this problem by performing detection locally at the camera and transmitting only compact, compressed and event-driven summaries This makes city-scale traffic monitoring affordable, scalable and sustainable.</a:t>
            </a:r>
            <a:endParaRPr sz="2000" dirty="0">
              <a:latin typeface="Verdana"/>
              <a:cs typeface="Verdana"/>
            </a:endParaRPr>
          </a:p>
        </p:txBody>
      </p:sp>
      <p:grpSp>
        <p:nvGrpSpPr>
          <p:cNvPr id="4" name="object 4"/>
          <p:cNvGrpSpPr/>
          <p:nvPr/>
        </p:nvGrpSpPr>
        <p:grpSpPr>
          <a:xfrm>
            <a:off x="-4762" y="-4762"/>
            <a:ext cx="281305" cy="2437130"/>
            <a:chOff x="-4762" y="-4762"/>
            <a:chExt cx="281305" cy="2437130"/>
          </a:xfrm>
        </p:grpSpPr>
        <p:pic>
          <p:nvPicPr>
            <p:cNvPr id="5" name="object 5"/>
            <p:cNvPicPr/>
            <p:nvPr/>
          </p:nvPicPr>
          <p:blipFill>
            <a:blip r:embed="rId2" cstate="print"/>
            <a:stretch>
              <a:fillRect/>
            </a:stretch>
          </p:blipFill>
          <p:spPr>
            <a:xfrm>
              <a:off x="6134" y="12700"/>
              <a:ext cx="269925" cy="2419604"/>
            </a:xfrm>
            <a:prstGeom prst="rect">
              <a:avLst/>
            </a:prstGeom>
          </p:spPr>
        </p:pic>
        <p:pic>
          <p:nvPicPr>
            <p:cNvPr id="6" name="object 6"/>
            <p:cNvPicPr/>
            <p:nvPr/>
          </p:nvPicPr>
          <p:blipFill>
            <a:blip r:embed="rId3" cstate="print"/>
            <a:stretch>
              <a:fillRect/>
            </a:stretch>
          </p:blipFill>
          <p:spPr>
            <a:xfrm>
              <a:off x="0" y="0"/>
              <a:ext cx="242392" cy="2376297"/>
            </a:xfrm>
            <a:prstGeom prst="rect">
              <a:avLst/>
            </a:prstGeom>
          </p:spPr>
        </p:pic>
        <p:sp>
          <p:nvSpPr>
            <p:cNvPr id="7" name="object 7"/>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4473187"/>
            <a:ext cx="285750" cy="2390140"/>
            <a:chOff x="11149456" y="4473187"/>
            <a:chExt cx="285750" cy="2390140"/>
          </a:xfrm>
        </p:grpSpPr>
        <p:pic>
          <p:nvPicPr>
            <p:cNvPr id="9" name="object 9"/>
            <p:cNvPicPr/>
            <p:nvPr/>
          </p:nvPicPr>
          <p:blipFill>
            <a:blip r:embed="rId4" cstate="print"/>
            <a:stretch>
              <a:fillRect/>
            </a:stretch>
          </p:blipFill>
          <p:spPr>
            <a:xfrm>
              <a:off x="11149456" y="4473187"/>
              <a:ext cx="280504" cy="2384806"/>
            </a:xfrm>
            <a:prstGeom prst="rect">
              <a:avLst/>
            </a:prstGeom>
          </p:spPr>
        </p:pic>
        <p:pic>
          <p:nvPicPr>
            <p:cNvPr id="10" name="object 10"/>
            <p:cNvPicPr/>
            <p:nvPr/>
          </p:nvPicPr>
          <p:blipFill>
            <a:blip r:embed="rId5" cstate="print"/>
            <a:stretch>
              <a:fillRect/>
            </a:stretch>
          </p:blipFill>
          <p:spPr>
            <a:xfrm>
              <a:off x="11187556" y="4481699"/>
              <a:ext cx="242392" cy="2376296"/>
            </a:xfrm>
            <a:prstGeom prst="rect">
              <a:avLst/>
            </a:prstGeom>
          </p:spPr>
        </p:pic>
        <p:sp>
          <p:nvSpPr>
            <p:cNvPr id="11" name="object 11"/>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673333" y="6431991"/>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68686"/>
                </a:solidFill>
                <a:latin typeface="Verdana"/>
                <a:cs typeface="Verdana"/>
              </a:rPr>
              <a:t>4</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006DC0"/>
                </a:solidFill>
                <a:latin typeface="Verdana"/>
                <a:cs typeface="Verdana"/>
              </a:rPr>
              <a:t>Vel</a:t>
            </a:r>
            <a:r>
              <a:rPr sz="1200" spc="-105" dirty="0">
                <a:solidFill>
                  <a:srgbClr val="006DC0"/>
                </a:solidFill>
                <a:latin typeface="Verdana"/>
                <a:cs typeface="Verdana"/>
              </a:rPr>
              <a:t> </a:t>
            </a:r>
            <a:r>
              <a:rPr sz="1200" spc="-20" dirty="0">
                <a:solidFill>
                  <a:srgbClr val="006DC0"/>
                </a:solidFill>
                <a:latin typeface="Verdana"/>
                <a:cs typeface="Verdana"/>
              </a:rPr>
              <a:t>Tech</a:t>
            </a:r>
            <a:r>
              <a:rPr sz="1200" spc="-105" dirty="0">
                <a:solidFill>
                  <a:srgbClr val="006DC0"/>
                </a:solidFill>
                <a:latin typeface="Verdana"/>
                <a:cs typeface="Verdana"/>
              </a:rPr>
              <a:t> </a:t>
            </a:r>
            <a:r>
              <a:rPr sz="1200" spc="-10" dirty="0">
                <a:solidFill>
                  <a:srgbClr val="006DC0"/>
                </a:solidFill>
                <a:latin typeface="Verdana"/>
                <a:cs typeface="Verdana"/>
              </a:rPr>
              <a:t>Rangarajan</a:t>
            </a:r>
            <a:r>
              <a:rPr sz="1200" spc="70" dirty="0">
                <a:solidFill>
                  <a:srgbClr val="006DC0"/>
                </a:solidFill>
                <a:latin typeface="Verdana"/>
                <a:cs typeface="Verdana"/>
              </a:rPr>
              <a:t> </a:t>
            </a:r>
            <a:r>
              <a:rPr sz="1200" spc="-70" dirty="0">
                <a:solidFill>
                  <a:srgbClr val="006DC0"/>
                </a:solidFill>
                <a:latin typeface="Verdana"/>
                <a:cs typeface="Verdana"/>
              </a:rPr>
              <a:t>Dr.</a:t>
            </a:r>
            <a:r>
              <a:rPr sz="1200" spc="-250" dirty="0">
                <a:solidFill>
                  <a:srgbClr val="006DC0"/>
                </a:solidFill>
                <a:latin typeface="Verdana"/>
                <a:cs typeface="Verdana"/>
              </a:rPr>
              <a:t> </a:t>
            </a:r>
            <a:r>
              <a:rPr sz="1200" spc="-25" dirty="0">
                <a:solidFill>
                  <a:srgbClr val="006DC0"/>
                </a:solidFill>
                <a:latin typeface="Verdana"/>
                <a:cs typeface="Verdana"/>
              </a:rPr>
              <a:t>Sagunthala</a:t>
            </a:r>
            <a:r>
              <a:rPr sz="1200" spc="30" dirty="0">
                <a:solidFill>
                  <a:srgbClr val="006DC0"/>
                </a:solidFill>
                <a:latin typeface="Verdana"/>
                <a:cs typeface="Verdana"/>
              </a:rPr>
              <a:t> </a:t>
            </a:r>
            <a:r>
              <a:rPr sz="1200" spc="-45" dirty="0">
                <a:solidFill>
                  <a:srgbClr val="006DC0"/>
                </a:solidFill>
                <a:latin typeface="Verdana"/>
                <a:cs typeface="Verdana"/>
              </a:rPr>
              <a:t>R&amp;D</a:t>
            </a:r>
            <a:r>
              <a:rPr sz="1200" spc="-150" dirty="0">
                <a:solidFill>
                  <a:srgbClr val="006DC0"/>
                </a:solidFill>
                <a:latin typeface="Verdana"/>
                <a:cs typeface="Verdana"/>
              </a:rPr>
              <a:t> </a:t>
            </a:r>
            <a:r>
              <a:rPr sz="1200" spc="-100" dirty="0">
                <a:solidFill>
                  <a:srgbClr val="006DC0"/>
                </a:solidFill>
                <a:latin typeface="Verdana"/>
                <a:cs typeface="Verdana"/>
              </a:rPr>
              <a:t>Institute</a:t>
            </a:r>
            <a:r>
              <a:rPr sz="1200" spc="-120" dirty="0">
                <a:solidFill>
                  <a:srgbClr val="006DC0"/>
                </a:solidFill>
                <a:latin typeface="Verdana"/>
                <a:cs typeface="Verdana"/>
              </a:rPr>
              <a:t> </a:t>
            </a:r>
            <a:r>
              <a:rPr sz="1200" dirty="0">
                <a:solidFill>
                  <a:srgbClr val="006DC0"/>
                </a:solidFill>
                <a:latin typeface="Verdana"/>
                <a:cs typeface="Verdana"/>
              </a:rPr>
              <a:t>of</a:t>
            </a:r>
            <a:r>
              <a:rPr sz="1200" spc="-80" dirty="0">
                <a:solidFill>
                  <a:srgbClr val="006DC0"/>
                </a:solidFill>
                <a:latin typeface="Verdana"/>
                <a:cs typeface="Verdana"/>
              </a:rPr>
              <a:t> </a:t>
            </a:r>
            <a:r>
              <a:rPr sz="1200" spc="-20" dirty="0">
                <a:solidFill>
                  <a:srgbClr val="006DC0"/>
                </a:solidFill>
                <a:latin typeface="Verdana"/>
                <a:cs typeface="Verdana"/>
              </a:rPr>
              <a:t>Science</a:t>
            </a:r>
            <a:r>
              <a:rPr sz="1200" spc="-70" dirty="0">
                <a:solidFill>
                  <a:srgbClr val="006DC0"/>
                </a:solidFill>
                <a:latin typeface="Verdana"/>
                <a:cs typeface="Verdana"/>
              </a:rPr>
              <a:t> </a:t>
            </a:r>
            <a:r>
              <a:rPr sz="1200" dirty="0">
                <a:solidFill>
                  <a:srgbClr val="006DC0"/>
                </a:solidFill>
                <a:latin typeface="Verdana"/>
                <a:cs typeface="Verdana"/>
              </a:rPr>
              <a:t>and</a:t>
            </a:r>
            <a:r>
              <a:rPr sz="1200" spc="-20" dirty="0">
                <a:solidFill>
                  <a:srgbClr val="006DC0"/>
                </a:solidFill>
                <a:latin typeface="Verdana"/>
                <a:cs typeface="Verdana"/>
              </a:rPr>
              <a:t> </a:t>
            </a:r>
            <a:r>
              <a:rPr sz="1200" spc="-10" dirty="0">
                <a:solidFill>
                  <a:srgbClr val="006DC0"/>
                </a:solidFill>
                <a:latin typeface="Verdana"/>
                <a:cs typeface="Verdana"/>
              </a:rPr>
              <a:t>Technology</a:t>
            </a:r>
            <a:endParaRPr sz="1200">
              <a:latin typeface="Verdana"/>
              <a:cs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90084" y="436829"/>
            <a:ext cx="2437765" cy="635000"/>
          </a:xfrm>
          <a:prstGeom prst="rect">
            <a:avLst/>
          </a:prstGeom>
        </p:spPr>
        <p:txBody>
          <a:bodyPr vert="horz" wrap="square" lIns="0" tIns="12065" rIns="0" bIns="0" rtlCol="0">
            <a:spAutoFit/>
          </a:bodyPr>
          <a:lstStyle/>
          <a:p>
            <a:pPr marL="12700">
              <a:lnSpc>
                <a:spcPct val="100000"/>
              </a:lnSpc>
              <a:spcBef>
                <a:spcPts val="95"/>
              </a:spcBef>
            </a:pPr>
            <a:r>
              <a:rPr sz="4000" spc="-10" dirty="0"/>
              <a:t>Objective</a:t>
            </a:r>
            <a:endParaRPr sz="4000"/>
          </a:p>
        </p:txBody>
      </p:sp>
      <p:sp>
        <p:nvSpPr>
          <p:cNvPr id="3" name="object 3"/>
          <p:cNvSpPr txBox="1"/>
          <p:nvPr/>
        </p:nvSpPr>
        <p:spPr>
          <a:xfrm>
            <a:off x="1071974" y="1905000"/>
            <a:ext cx="9209977" cy="3567643"/>
          </a:xfrm>
          <a:prstGeom prst="rect">
            <a:avLst/>
          </a:prstGeom>
        </p:spPr>
        <p:txBody>
          <a:bodyPr vert="horz" wrap="square" lIns="0" tIns="12700" rIns="0" bIns="0" rtlCol="0">
            <a:spAutoFit/>
          </a:bodyPr>
          <a:lstStyle/>
          <a:p>
            <a:pPr marL="354965" indent="-342265" algn="just">
              <a:lnSpc>
                <a:spcPct val="100000"/>
              </a:lnSpc>
              <a:spcBef>
                <a:spcPts val="100"/>
              </a:spcBef>
              <a:buFont typeface="Arial MT"/>
              <a:buChar char="•"/>
              <a:tabLst>
                <a:tab pos="354965" algn="l"/>
              </a:tabLst>
            </a:pPr>
            <a:r>
              <a:rPr lang="en-US" sz="2400" spc="-65" dirty="0">
                <a:latin typeface="Verdana"/>
                <a:cs typeface="Verdana"/>
              </a:rPr>
              <a:t>To classify traffic congestion as Low, Medium or High using simple, configurable threshold rules.</a:t>
            </a:r>
            <a:r>
              <a:rPr sz="2400" spc="-10" dirty="0">
                <a:latin typeface="Verdana"/>
                <a:cs typeface="Verdana"/>
              </a:rPr>
              <a:t>.</a:t>
            </a:r>
            <a:endParaRPr sz="2400" dirty="0">
              <a:latin typeface="Verdana"/>
              <a:cs typeface="Verdana"/>
            </a:endParaRPr>
          </a:p>
          <a:p>
            <a:pPr marL="355600" marR="5080" indent="-342900" algn="just">
              <a:lnSpc>
                <a:spcPct val="100000"/>
              </a:lnSpc>
              <a:spcBef>
                <a:spcPts val="600"/>
              </a:spcBef>
              <a:buFont typeface="Arial MT"/>
              <a:buChar char="•"/>
              <a:tabLst>
                <a:tab pos="355600" algn="l"/>
              </a:tabLst>
            </a:pPr>
            <a:r>
              <a:rPr lang="en-US" sz="2400" dirty="0">
                <a:latin typeface="Verdana"/>
                <a:cs typeface="Verdana"/>
              </a:rPr>
              <a:t>To minimize network usage through event-based transmission, a periodic heartbeat and </a:t>
            </a:r>
            <a:r>
              <a:rPr lang="en-US" sz="2400" dirty="0" err="1">
                <a:latin typeface="Verdana"/>
                <a:cs typeface="Verdana"/>
              </a:rPr>
              <a:t>gzip</a:t>
            </a:r>
            <a:r>
              <a:rPr lang="en-US" sz="2400" dirty="0">
                <a:latin typeface="Verdana"/>
                <a:cs typeface="Verdana"/>
              </a:rPr>
              <a:t> compression.</a:t>
            </a:r>
          </a:p>
          <a:p>
            <a:pPr marL="355600" marR="5080" indent="-342900" algn="just">
              <a:lnSpc>
                <a:spcPct val="100000"/>
              </a:lnSpc>
              <a:spcBef>
                <a:spcPts val="600"/>
              </a:spcBef>
              <a:buFont typeface="Arial MT"/>
              <a:buChar char="•"/>
              <a:tabLst>
                <a:tab pos="355600" algn="l"/>
              </a:tabLst>
            </a:pPr>
            <a:r>
              <a:rPr lang="en-US" sz="2400" spc="-70" dirty="0">
                <a:latin typeface="Verdana"/>
                <a:cs typeface="Verdana"/>
              </a:rPr>
              <a:t>To transmit summaries over MQTT, store them in SQLite, and visualize them in real time on a </a:t>
            </a:r>
            <a:r>
              <a:rPr lang="en-US" sz="2400" spc="-70" dirty="0" err="1">
                <a:latin typeface="Verdana"/>
                <a:cs typeface="Verdana"/>
              </a:rPr>
              <a:t>Streamlit</a:t>
            </a:r>
            <a:r>
              <a:rPr lang="en-US" sz="2400" spc="-70" dirty="0">
                <a:latin typeface="Verdana"/>
                <a:cs typeface="Verdana"/>
              </a:rPr>
              <a:t> dashboard.</a:t>
            </a:r>
          </a:p>
          <a:p>
            <a:pPr marL="355600" marR="5080" indent="-342900" algn="just">
              <a:lnSpc>
                <a:spcPct val="100000"/>
              </a:lnSpc>
              <a:spcBef>
                <a:spcPts val="600"/>
              </a:spcBef>
              <a:buFont typeface="Arial MT"/>
              <a:buChar char="•"/>
              <a:tabLst>
                <a:tab pos="355600" algn="l"/>
              </a:tabLst>
            </a:pPr>
            <a:r>
              <a:rPr lang="en-US" sz="2400" spc="-70" dirty="0">
                <a:latin typeface="Verdana"/>
                <a:cs typeface="Verdana"/>
              </a:rPr>
              <a:t>To demonstrate measurable bandwidth savings of over ninety percent compared to a naive system that transmits every frame</a:t>
            </a:r>
            <a:r>
              <a:rPr sz="2400" spc="-10" dirty="0">
                <a:latin typeface="Verdana"/>
                <a:cs typeface="Verdana"/>
              </a:rPr>
              <a:t>.</a:t>
            </a:r>
            <a:endParaRPr sz="2400" dirty="0">
              <a:latin typeface="Verdana"/>
              <a:cs typeface="Verdana"/>
            </a:endParaRPr>
          </a:p>
        </p:txBody>
      </p:sp>
      <p:grpSp>
        <p:nvGrpSpPr>
          <p:cNvPr id="4" name="object 4"/>
          <p:cNvGrpSpPr/>
          <p:nvPr/>
        </p:nvGrpSpPr>
        <p:grpSpPr>
          <a:xfrm>
            <a:off x="-4762" y="-4762"/>
            <a:ext cx="281305" cy="2437130"/>
            <a:chOff x="-4762" y="-4762"/>
            <a:chExt cx="281305" cy="2437130"/>
          </a:xfrm>
        </p:grpSpPr>
        <p:pic>
          <p:nvPicPr>
            <p:cNvPr id="5" name="object 5"/>
            <p:cNvPicPr/>
            <p:nvPr/>
          </p:nvPicPr>
          <p:blipFill>
            <a:blip r:embed="rId2" cstate="print"/>
            <a:stretch>
              <a:fillRect/>
            </a:stretch>
          </p:blipFill>
          <p:spPr>
            <a:xfrm>
              <a:off x="6134" y="12700"/>
              <a:ext cx="269925" cy="2419604"/>
            </a:xfrm>
            <a:prstGeom prst="rect">
              <a:avLst/>
            </a:prstGeom>
          </p:spPr>
        </p:pic>
        <p:pic>
          <p:nvPicPr>
            <p:cNvPr id="6" name="object 6"/>
            <p:cNvPicPr/>
            <p:nvPr/>
          </p:nvPicPr>
          <p:blipFill>
            <a:blip r:embed="rId3" cstate="print"/>
            <a:stretch>
              <a:fillRect/>
            </a:stretch>
          </p:blipFill>
          <p:spPr>
            <a:xfrm>
              <a:off x="0" y="0"/>
              <a:ext cx="242392" cy="2376297"/>
            </a:xfrm>
            <a:prstGeom prst="rect">
              <a:avLst/>
            </a:prstGeom>
          </p:spPr>
        </p:pic>
        <p:sp>
          <p:nvSpPr>
            <p:cNvPr id="7" name="object 7"/>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4473187"/>
            <a:ext cx="285750" cy="2390140"/>
            <a:chOff x="11149456" y="4473187"/>
            <a:chExt cx="285750" cy="2390140"/>
          </a:xfrm>
        </p:grpSpPr>
        <p:pic>
          <p:nvPicPr>
            <p:cNvPr id="9" name="object 9"/>
            <p:cNvPicPr/>
            <p:nvPr/>
          </p:nvPicPr>
          <p:blipFill>
            <a:blip r:embed="rId4" cstate="print"/>
            <a:stretch>
              <a:fillRect/>
            </a:stretch>
          </p:blipFill>
          <p:spPr>
            <a:xfrm>
              <a:off x="11149456" y="4473187"/>
              <a:ext cx="280504" cy="2384806"/>
            </a:xfrm>
            <a:prstGeom prst="rect">
              <a:avLst/>
            </a:prstGeom>
          </p:spPr>
        </p:pic>
        <p:pic>
          <p:nvPicPr>
            <p:cNvPr id="10" name="object 10"/>
            <p:cNvPicPr/>
            <p:nvPr/>
          </p:nvPicPr>
          <p:blipFill>
            <a:blip r:embed="rId5" cstate="print"/>
            <a:stretch>
              <a:fillRect/>
            </a:stretch>
          </p:blipFill>
          <p:spPr>
            <a:xfrm>
              <a:off x="11187556" y="4481699"/>
              <a:ext cx="242392" cy="2376296"/>
            </a:xfrm>
            <a:prstGeom prst="rect">
              <a:avLst/>
            </a:prstGeom>
          </p:spPr>
        </p:pic>
        <p:sp>
          <p:nvSpPr>
            <p:cNvPr id="11" name="object 11"/>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673333" y="6431991"/>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68686"/>
                </a:solidFill>
                <a:latin typeface="Verdana"/>
                <a:cs typeface="Verdana"/>
              </a:rPr>
              <a:t>5</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006DC0"/>
                </a:solidFill>
                <a:latin typeface="Verdana"/>
                <a:cs typeface="Verdana"/>
              </a:rPr>
              <a:t>Vel</a:t>
            </a:r>
            <a:r>
              <a:rPr sz="1200" spc="-105" dirty="0">
                <a:solidFill>
                  <a:srgbClr val="006DC0"/>
                </a:solidFill>
                <a:latin typeface="Verdana"/>
                <a:cs typeface="Verdana"/>
              </a:rPr>
              <a:t> </a:t>
            </a:r>
            <a:r>
              <a:rPr sz="1200" spc="-20" dirty="0">
                <a:solidFill>
                  <a:srgbClr val="006DC0"/>
                </a:solidFill>
                <a:latin typeface="Verdana"/>
                <a:cs typeface="Verdana"/>
              </a:rPr>
              <a:t>Tech</a:t>
            </a:r>
            <a:r>
              <a:rPr sz="1200" spc="-105" dirty="0">
                <a:solidFill>
                  <a:srgbClr val="006DC0"/>
                </a:solidFill>
                <a:latin typeface="Verdana"/>
                <a:cs typeface="Verdana"/>
              </a:rPr>
              <a:t> </a:t>
            </a:r>
            <a:r>
              <a:rPr sz="1200" spc="-10" dirty="0">
                <a:solidFill>
                  <a:srgbClr val="006DC0"/>
                </a:solidFill>
                <a:latin typeface="Verdana"/>
                <a:cs typeface="Verdana"/>
              </a:rPr>
              <a:t>Rangarajan</a:t>
            </a:r>
            <a:r>
              <a:rPr sz="1200" spc="70" dirty="0">
                <a:solidFill>
                  <a:srgbClr val="006DC0"/>
                </a:solidFill>
                <a:latin typeface="Verdana"/>
                <a:cs typeface="Verdana"/>
              </a:rPr>
              <a:t> </a:t>
            </a:r>
            <a:r>
              <a:rPr sz="1200" spc="-70" dirty="0">
                <a:solidFill>
                  <a:srgbClr val="006DC0"/>
                </a:solidFill>
                <a:latin typeface="Verdana"/>
                <a:cs typeface="Verdana"/>
              </a:rPr>
              <a:t>Dr.</a:t>
            </a:r>
            <a:r>
              <a:rPr sz="1200" spc="-250" dirty="0">
                <a:solidFill>
                  <a:srgbClr val="006DC0"/>
                </a:solidFill>
                <a:latin typeface="Verdana"/>
                <a:cs typeface="Verdana"/>
              </a:rPr>
              <a:t> </a:t>
            </a:r>
            <a:r>
              <a:rPr sz="1200" spc="-25" dirty="0">
                <a:solidFill>
                  <a:srgbClr val="006DC0"/>
                </a:solidFill>
                <a:latin typeface="Verdana"/>
                <a:cs typeface="Verdana"/>
              </a:rPr>
              <a:t>Sagunthala</a:t>
            </a:r>
            <a:r>
              <a:rPr sz="1200" spc="30" dirty="0">
                <a:solidFill>
                  <a:srgbClr val="006DC0"/>
                </a:solidFill>
                <a:latin typeface="Verdana"/>
                <a:cs typeface="Verdana"/>
              </a:rPr>
              <a:t> </a:t>
            </a:r>
            <a:r>
              <a:rPr sz="1200" spc="-45" dirty="0">
                <a:solidFill>
                  <a:srgbClr val="006DC0"/>
                </a:solidFill>
                <a:latin typeface="Verdana"/>
                <a:cs typeface="Verdana"/>
              </a:rPr>
              <a:t>R&amp;D</a:t>
            </a:r>
            <a:r>
              <a:rPr sz="1200" spc="-150" dirty="0">
                <a:solidFill>
                  <a:srgbClr val="006DC0"/>
                </a:solidFill>
                <a:latin typeface="Verdana"/>
                <a:cs typeface="Verdana"/>
              </a:rPr>
              <a:t> </a:t>
            </a:r>
            <a:r>
              <a:rPr sz="1200" spc="-100" dirty="0">
                <a:solidFill>
                  <a:srgbClr val="006DC0"/>
                </a:solidFill>
                <a:latin typeface="Verdana"/>
                <a:cs typeface="Verdana"/>
              </a:rPr>
              <a:t>Institute</a:t>
            </a:r>
            <a:r>
              <a:rPr sz="1200" spc="-120" dirty="0">
                <a:solidFill>
                  <a:srgbClr val="006DC0"/>
                </a:solidFill>
                <a:latin typeface="Verdana"/>
                <a:cs typeface="Verdana"/>
              </a:rPr>
              <a:t> </a:t>
            </a:r>
            <a:r>
              <a:rPr sz="1200" dirty="0">
                <a:solidFill>
                  <a:srgbClr val="006DC0"/>
                </a:solidFill>
                <a:latin typeface="Verdana"/>
                <a:cs typeface="Verdana"/>
              </a:rPr>
              <a:t>of</a:t>
            </a:r>
            <a:r>
              <a:rPr sz="1200" spc="-80" dirty="0">
                <a:solidFill>
                  <a:srgbClr val="006DC0"/>
                </a:solidFill>
                <a:latin typeface="Verdana"/>
                <a:cs typeface="Verdana"/>
              </a:rPr>
              <a:t> </a:t>
            </a:r>
            <a:r>
              <a:rPr sz="1200" spc="-20" dirty="0">
                <a:solidFill>
                  <a:srgbClr val="006DC0"/>
                </a:solidFill>
                <a:latin typeface="Verdana"/>
                <a:cs typeface="Verdana"/>
              </a:rPr>
              <a:t>Science</a:t>
            </a:r>
            <a:r>
              <a:rPr sz="1200" spc="-70" dirty="0">
                <a:solidFill>
                  <a:srgbClr val="006DC0"/>
                </a:solidFill>
                <a:latin typeface="Verdana"/>
                <a:cs typeface="Verdana"/>
              </a:rPr>
              <a:t> </a:t>
            </a:r>
            <a:r>
              <a:rPr sz="1200" dirty="0">
                <a:solidFill>
                  <a:srgbClr val="006DC0"/>
                </a:solidFill>
                <a:latin typeface="Verdana"/>
                <a:cs typeface="Verdana"/>
              </a:rPr>
              <a:t>and</a:t>
            </a:r>
            <a:r>
              <a:rPr sz="1200" spc="-20" dirty="0">
                <a:solidFill>
                  <a:srgbClr val="006DC0"/>
                </a:solidFill>
                <a:latin typeface="Verdana"/>
                <a:cs typeface="Verdana"/>
              </a:rPr>
              <a:t> </a:t>
            </a:r>
            <a:r>
              <a:rPr sz="1200" spc="-10" dirty="0">
                <a:solidFill>
                  <a:srgbClr val="006DC0"/>
                </a:solidFill>
                <a:latin typeface="Verdana"/>
                <a:cs typeface="Verdana"/>
              </a:rPr>
              <a:t>Technology</a:t>
            </a:r>
            <a:endParaRPr sz="1200">
              <a:latin typeface="Verdana"/>
              <a:cs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672953" y="6431991"/>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68686"/>
                </a:solidFill>
                <a:latin typeface="Verdana"/>
                <a:cs typeface="Verdana"/>
              </a:rPr>
              <a:t>6</a:t>
            </a:r>
            <a:endParaRPr sz="1200">
              <a:latin typeface="Verdana"/>
              <a:cs typeface="Verdana"/>
            </a:endParaRPr>
          </a:p>
        </p:txBody>
      </p:sp>
      <p:grpSp>
        <p:nvGrpSpPr>
          <p:cNvPr id="3" name="object 3"/>
          <p:cNvGrpSpPr/>
          <p:nvPr/>
        </p:nvGrpSpPr>
        <p:grpSpPr>
          <a:xfrm>
            <a:off x="-4762" y="-4762"/>
            <a:ext cx="281305" cy="2437130"/>
            <a:chOff x="-4762" y="-4762"/>
            <a:chExt cx="281305" cy="2437130"/>
          </a:xfrm>
        </p:grpSpPr>
        <p:pic>
          <p:nvPicPr>
            <p:cNvPr id="4" name="object 4"/>
            <p:cNvPicPr/>
            <p:nvPr/>
          </p:nvPicPr>
          <p:blipFill>
            <a:blip r:embed="rId2" cstate="print"/>
            <a:stretch>
              <a:fillRect/>
            </a:stretch>
          </p:blipFill>
          <p:spPr>
            <a:xfrm>
              <a:off x="6134" y="12700"/>
              <a:ext cx="269925" cy="2419604"/>
            </a:xfrm>
            <a:prstGeom prst="rect">
              <a:avLst/>
            </a:prstGeom>
          </p:spPr>
        </p:pic>
        <p:pic>
          <p:nvPicPr>
            <p:cNvPr id="5" name="object 5"/>
            <p:cNvPicPr/>
            <p:nvPr/>
          </p:nvPicPr>
          <p:blipFill>
            <a:blip r:embed="rId3" cstate="print"/>
            <a:stretch>
              <a:fillRect/>
            </a:stretch>
          </p:blipFill>
          <p:spPr>
            <a:xfrm>
              <a:off x="0" y="0"/>
              <a:ext cx="242392" cy="2376297"/>
            </a:xfrm>
            <a:prstGeom prst="rect">
              <a:avLst/>
            </a:prstGeom>
          </p:spPr>
        </p:pic>
        <p:sp>
          <p:nvSpPr>
            <p:cNvPr id="6" name="object 6"/>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7" name="object 7"/>
          <p:cNvGrpSpPr/>
          <p:nvPr/>
        </p:nvGrpSpPr>
        <p:grpSpPr>
          <a:xfrm>
            <a:off x="11149456" y="4473187"/>
            <a:ext cx="285750" cy="2390140"/>
            <a:chOff x="11149456" y="4473187"/>
            <a:chExt cx="285750" cy="2390140"/>
          </a:xfrm>
        </p:grpSpPr>
        <p:pic>
          <p:nvPicPr>
            <p:cNvPr id="8" name="object 8"/>
            <p:cNvPicPr/>
            <p:nvPr/>
          </p:nvPicPr>
          <p:blipFill>
            <a:blip r:embed="rId4" cstate="print"/>
            <a:stretch>
              <a:fillRect/>
            </a:stretch>
          </p:blipFill>
          <p:spPr>
            <a:xfrm>
              <a:off x="11149456" y="4473187"/>
              <a:ext cx="280504" cy="2384806"/>
            </a:xfrm>
            <a:prstGeom prst="rect">
              <a:avLst/>
            </a:prstGeom>
          </p:spPr>
        </p:pic>
        <p:pic>
          <p:nvPicPr>
            <p:cNvPr id="9" name="object 9"/>
            <p:cNvPicPr/>
            <p:nvPr/>
          </p:nvPicPr>
          <p:blipFill>
            <a:blip r:embed="rId5" cstate="print"/>
            <a:stretch>
              <a:fillRect/>
            </a:stretch>
          </p:blipFill>
          <p:spPr>
            <a:xfrm>
              <a:off x="11187556" y="4481699"/>
              <a:ext cx="242392" cy="2376296"/>
            </a:xfrm>
            <a:prstGeom prst="rect">
              <a:avLst/>
            </a:prstGeom>
          </p:spPr>
        </p:pic>
        <p:sp>
          <p:nvSpPr>
            <p:cNvPr id="10" name="object 10"/>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aphicFrame>
        <p:nvGraphicFramePr>
          <p:cNvPr id="11" name="object 11"/>
          <p:cNvGraphicFramePr>
            <a:graphicFrameLocks noGrp="1"/>
          </p:cNvGraphicFramePr>
          <p:nvPr>
            <p:extLst>
              <p:ext uri="{D42A27DB-BD31-4B8C-83A1-F6EECF244321}">
                <p14:modId xmlns:p14="http://schemas.microsoft.com/office/powerpoint/2010/main" val="1546696362"/>
              </p:ext>
            </p:extLst>
          </p:nvPr>
        </p:nvGraphicFramePr>
        <p:xfrm>
          <a:off x="1029855" y="215900"/>
          <a:ext cx="9445624" cy="6640830"/>
        </p:xfrm>
        <a:graphic>
          <a:graphicData uri="http://schemas.openxmlformats.org/drawingml/2006/table">
            <a:tbl>
              <a:tblPr firstRow="1" bandRow="1">
                <a:tableStyleId>{2D5ABB26-0587-4C30-8999-92F81FD0307C}</a:tableStyleId>
              </a:tblPr>
              <a:tblGrid>
                <a:gridCol w="873125">
                  <a:extLst>
                    <a:ext uri="{9D8B030D-6E8A-4147-A177-3AD203B41FA5}">
                      <a16:colId xmlns:a16="http://schemas.microsoft.com/office/drawing/2014/main" val="20000"/>
                    </a:ext>
                  </a:extLst>
                </a:gridCol>
                <a:gridCol w="1202055">
                  <a:extLst>
                    <a:ext uri="{9D8B030D-6E8A-4147-A177-3AD203B41FA5}">
                      <a16:colId xmlns:a16="http://schemas.microsoft.com/office/drawing/2014/main" val="20001"/>
                    </a:ext>
                  </a:extLst>
                </a:gridCol>
                <a:gridCol w="2528570">
                  <a:extLst>
                    <a:ext uri="{9D8B030D-6E8A-4147-A177-3AD203B41FA5}">
                      <a16:colId xmlns:a16="http://schemas.microsoft.com/office/drawing/2014/main" val="20002"/>
                    </a:ext>
                  </a:extLst>
                </a:gridCol>
                <a:gridCol w="1412875">
                  <a:extLst>
                    <a:ext uri="{9D8B030D-6E8A-4147-A177-3AD203B41FA5}">
                      <a16:colId xmlns:a16="http://schemas.microsoft.com/office/drawing/2014/main" val="20003"/>
                    </a:ext>
                  </a:extLst>
                </a:gridCol>
                <a:gridCol w="1480820">
                  <a:extLst>
                    <a:ext uri="{9D8B030D-6E8A-4147-A177-3AD203B41FA5}">
                      <a16:colId xmlns:a16="http://schemas.microsoft.com/office/drawing/2014/main" val="20004"/>
                    </a:ext>
                  </a:extLst>
                </a:gridCol>
                <a:gridCol w="1948179">
                  <a:extLst>
                    <a:ext uri="{9D8B030D-6E8A-4147-A177-3AD203B41FA5}">
                      <a16:colId xmlns:a16="http://schemas.microsoft.com/office/drawing/2014/main" val="20005"/>
                    </a:ext>
                  </a:extLst>
                </a:gridCol>
              </a:tblGrid>
              <a:tr h="518159">
                <a:tc>
                  <a:txBody>
                    <a:bodyPr/>
                    <a:lstStyle/>
                    <a:p>
                      <a:pPr marR="358775" algn="r">
                        <a:lnSpc>
                          <a:spcPct val="100000"/>
                        </a:lnSpc>
                        <a:spcBef>
                          <a:spcPts val="270"/>
                        </a:spcBef>
                      </a:pPr>
                      <a:r>
                        <a:rPr sz="1400" b="1" dirty="0">
                          <a:solidFill>
                            <a:srgbClr val="FFFFFF"/>
                          </a:solidFill>
                          <a:latin typeface="Times New Roman"/>
                          <a:cs typeface="Times New Roman"/>
                        </a:rPr>
                        <a:t>Sl</a:t>
                      </a:r>
                      <a:r>
                        <a:rPr sz="1400" b="1" spc="-30" dirty="0">
                          <a:solidFill>
                            <a:srgbClr val="FFFFFF"/>
                          </a:solidFill>
                          <a:latin typeface="Times New Roman"/>
                          <a:cs typeface="Times New Roman"/>
                        </a:rPr>
                        <a:t> </a:t>
                      </a:r>
                      <a:r>
                        <a:rPr sz="1400" b="1" spc="-25" dirty="0">
                          <a:solidFill>
                            <a:srgbClr val="FFFFFF"/>
                          </a:solidFill>
                          <a:latin typeface="Times New Roman"/>
                          <a:cs typeface="Times New Roman"/>
                        </a:rPr>
                        <a:t>No</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tc>
                  <a:txBody>
                    <a:bodyPr/>
                    <a:lstStyle/>
                    <a:p>
                      <a:pPr marL="91440">
                        <a:lnSpc>
                          <a:spcPct val="100000"/>
                        </a:lnSpc>
                        <a:spcBef>
                          <a:spcPts val="270"/>
                        </a:spcBef>
                      </a:pPr>
                      <a:r>
                        <a:rPr sz="1400" b="1" spc="-10" dirty="0">
                          <a:solidFill>
                            <a:srgbClr val="FFFFFF"/>
                          </a:solidFill>
                          <a:latin typeface="Times New Roman"/>
                          <a:cs typeface="Times New Roman"/>
                        </a:rPr>
                        <a:t>Authors</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tc>
                  <a:txBody>
                    <a:bodyPr/>
                    <a:lstStyle/>
                    <a:p>
                      <a:pPr marL="1905" algn="ctr">
                        <a:lnSpc>
                          <a:spcPct val="100000"/>
                        </a:lnSpc>
                        <a:spcBef>
                          <a:spcPts val="270"/>
                        </a:spcBef>
                      </a:pPr>
                      <a:r>
                        <a:rPr sz="1400" b="1" spc="-10" dirty="0">
                          <a:solidFill>
                            <a:srgbClr val="FFFFFF"/>
                          </a:solidFill>
                          <a:latin typeface="Times New Roman"/>
                          <a:cs typeface="Times New Roman"/>
                        </a:rPr>
                        <a:t>Title</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tc>
                  <a:txBody>
                    <a:bodyPr/>
                    <a:lstStyle/>
                    <a:p>
                      <a:pPr marL="3175" algn="ctr">
                        <a:lnSpc>
                          <a:spcPct val="100000"/>
                        </a:lnSpc>
                        <a:spcBef>
                          <a:spcPts val="270"/>
                        </a:spcBef>
                      </a:pPr>
                      <a:r>
                        <a:rPr sz="1400" b="1" dirty="0">
                          <a:solidFill>
                            <a:srgbClr val="FFFFFF"/>
                          </a:solidFill>
                          <a:latin typeface="Times New Roman"/>
                          <a:cs typeface="Times New Roman"/>
                        </a:rPr>
                        <a:t>Journal</a:t>
                      </a:r>
                      <a:r>
                        <a:rPr sz="1400" b="1" spc="-75" dirty="0">
                          <a:solidFill>
                            <a:srgbClr val="FFFFFF"/>
                          </a:solidFill>
                          <a:latin typeface="Times New Roman"/>
                          <a:cs typeface="Times New Roman"/>
                        </a:rPr>
                        <a:t> </a:t>
                      </a:r>
                      <a:r>
                        <a:rPr sz="1400" b="1" spc="-20" dirty="0">
                          <a:solidFill>
                            <a:srgbClr val="FFFFFF"/>
                          </a:solidFill>
                          <a:latin typeface="Times New Roman"/>
                          <a:cs typeface="Times New Roman"/>
                        </a:rPr>
                        <a:t>name</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tc>
                  <a:txBody>
                    <a:bodyPr/>
                    <a:lstStyle/>
                    <a:p>
                      <a:pPr marL="3810" algn="ctr">
                        <a:lnSpc>
                          <a:spcPct val="100000"/>
                        </a:lnSpc>
                        <a:spcBef>
                          <a:spcPts val="270"/>
                        </a:spcBef>
                      </a:pPr>
                      <a:r>
                        <a:rPr sz="1400" b="1" spc="-20" dirty="0">
                          <a:solidFill>
                            <a:srgbClr val="FFFFFF"/>
                          </a:solidFill>
                          <a:latin typeface="Times New Roman"/>
                          <a:cs typeface="Times New Roman"/>
                        </a:rPr>
                        <a:t>Year</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tc>
                  <a:txBody>
                    <a:bodyPr/>
                    <a:lstStyle/>
                    <a:p>
                      <a:pPr marL="613410">
                        <a:lnSpc>
                          <a:spcPct val="100000"/>
                        </a:lnSpc>
                        <a:spcBef>
                          <a:spcPts val="270"/>
                        </a:spcBef>
                      </a:pPr>
                      <a:r>
                        <a:rPr sz="1400" b="1" spc="-10" dirty="0">
                          <a:solidFill>
                            <a:srgbClr val="FFFFFF"/>
                          </a:solidFill>
                          <a:latin typeface="Times New Roman"/>
                          <a:cs typeface="Times New Roman"/>
                        </a:rPr>
                        <a:t>Inference</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B"/>
                    </a:solidFill>
                  </a:tcPr>
                </a:tc>
                <a:extLst>
                  <a:ext uri="{0D108BD9-81ED-4DB2-BD59-A6C34878D82A}">
                    <a16:rowId xmlns:a16="http://schemas.microsoft.com/office/drawing/2014/main" val="10000"/>
                  </a:ext>
                </a:extLst>
              </a:tr>
              <a:tr h="1645285">
                <a:tc>
                  <a:txBody>
                    <a:bodyPr/>
                    <a:lstStyle/>
                    <a:p>
                      <a:pPr marR="372110" algn="r">
                        <a:lnSpc>
                          <a:spcPct val="100000"/>
                        </a:lnSpc>
                        <a:spcBef>
                          <a:spcPts val="270"/>
                        </a:spcBef>
                      </a:pPr>
                      <a:r>
                        <a:rPr sz="1400" spc="-50" dirty="0">
                          <a:latin typeface="Times New Roman"/>
                          <a:cs typeface="Times New Roman"/>
                        </a:rPr>
                        <a:t>1</a:t>
                      </a:r>
                      <a:endParaRPr sz="1400">
                        <a:latin typeface="Times New Roman"/>
                        <a:cs typeface="Times New Roman"/>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324485" marR="110489" indent="-215265">
                        <a:lnSpc>
                          <a:spcPct val="100000"/>
                        </a:lnSpc>
                        <a:spcBef>
                          <a:spcPts val="340"/>
                        </a:spcBef>
                      </a:pPr>
                      <a:r>
                        <a:rPr lang="de-DE" sz="1400" spc="-90" dirty="0">
                          <a:latin typeface="Verdana" panose="020B0604030504040204" pitchFamily="34" charset="0"/>
                          <a:ea typeface="Verdana" panose="020B0604030504040204" pitchFamily="34" charset="0"/>
                          <a:cs typeface="Verdana"/>
                        </a:rPr>
                        <a:t>Zhang, Y. Chen</a:t>
                      </a:r>
                      <a:endParaRPr sz="1400" dirty="0">
                        <a:latin typeface="Verdana" panose="020B0604030504040204" pitchFamily="34" charset="0"/>
                        <a:ea typeface="Verdana" panose="020B0604030504040204" pitchFamily="34" charset="0"/>
                        <a:cs typeface="Verdana"/>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92075" marR="183515">
                        <a:lnSpc>
                          <a:spcPct val="100000"/>
                        </a:lnSpc>
                        <a:spcBef>
                          <a:spcPts val="340"/>
                        </a:spcBef>
                      </a:pPr>
                      <a:r>
                        <a:rPr lang="en-US" sz="1400" spc="-50" dirty="0">
                          <a:latin typeface="Verdana" panose="020B0604030504040204" pitchFamily="34" charset="0"/>
                          <a:ea typeface="Verdana" panose="020B0604030504040204" pitchFamily="34" charset="0"/>
                          <a:cs typeface="Verdana"/>
                        </a:rPr>
                        <a:t>Edge Computing for Bandwidth Reduction in Smart-City Camera Networks</a:t>
                      </a:r>
                      <a:endParaRPr sz="1400" dirty="0">
                        <a:latin typeface="Verdana" panose="020B0604030504040204" pitchFamily="34" charset="0"/>
                        <a:ea typeface="Verdana" panose="020B0604030504040204" pitchFamily="34" charset="0"/>
                        <a:cs typeface="Verdana"/>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algn="ctr">
                        <a:lnSpc>
                          <a:spcPct val="100000"/>
                        </a:lnSpc>
                        <a:spcBef>
                          <a:spcPts val="340"/>
                        </a:spcBef>
                      </a:pPr>
                      <a:r>
                        <a:rPr lang="en-US" sz="1400" dirty="0">
                          <a:latin typeface="Verdana" panose="020B0604030504040204" pitchFamily="34" charset="0"/>
                          <a:ea typeface="Verdana" panose="020B0604030504040204" pitchFamily="34" charset="0"/>
                          <a:cs typeface="Verdana"/>
                        </a:rPr>
                        <a:t>IEEE Internet of Things Journal</a:t>
                      </a:r>
                      <a:endParaRPr sz="1400" dirty="0">
                        <a:latin typeface="Verdana" panose="020B0604030504040204" pitchFamily="34" charset="0"/>
                        <a:ea typeface="Verdana" panose="020B0604030504040204" pitchFamily="34" charset="0"/>
                        <a:cs typeface="Verdana"/>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37465" algn="ctr">
                        <a:lnSpc>
                          <a:spcPct val="100000"/>
                        </a:lnSpc>
                        <a:spcBef>
                          <a:spcPts val="340"/>
                        </a:spcBef>
                      </a:pPr>
                      <a:r>
                        <a:rPr sz="1400" spc="-20" dirty="0">
                          <a:latin typeface="Verdana" panose="020B0604030504040204" pitchFamily="34" charset="0"/>
                          <a:ea typeface="Verdana" panose="020B0604030504040204" pitchFamily="34" charset="0"/>
                          <a:cs typeface="Verdana"/>
                        </a:rPr>
                        <a:t>20</a:t>
                      </a:r>
                      <a:r>
                        <a:rPr lang="en-IN" sz="1400" spc="-20" dirty="0">
                          <a:latin typeface="Verdana" panose="020B0604030504040204" pitchFamily="34" charset="0"/>
                          <a:ea typeface="Verdana" panose="020B0604030504040204" pitchFamily="34" charset="0"/>
                          <a:cs typeface="Verdana"/>
                        </a:rPr>
                        <a:t>23</a:t>
                      </a:r>
                      <a:endParaRPr sz="1400" dirty="0">
                        <a:latin typeface="Verdana" panose="020B0604030504040204" pitchFamily="34" charset="0"/>
                        <a:ea typeface="Verdana" panose="020B0604030504040204" pitchFamily="34" charset="0"/>
                        <a:cs typeface="Verdana"/>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243204" marR="219710" indent="22860" algn="ctr">
                        <a:lnSpc>
                          <a:spcPct val="100000"/>
                        </a:lnSpc>
                        <a:spcBef>
                          <a:spcPts val="340"/>
                        </a:spcBef>
                      </a:pPr>
                      <a:r>
                        <a:rPr lang="en-US" sz="1400" spc="-25" dirty="0">
                          <a:latin typeface="Verdana" panose="020B0604030504040204" pitchFamily="34" charset="0"/>
                          <a:ea typeface="Verdana" panose="020B0604030504040204" pitchFamily="34" charset="0"/>
                          <a:cs typeface="Verdana"/>
                        </a:rPr>
                        <a:t>Edge processing reduces cloud bandwidth by over 80%</a:t>
                      </a:r>
                      <a:endParaRPr sz="1400" dirty="0">
                        <a:latin typeface="Verdana" panose="020B0604030504040204" pitchFamily="34" charset="0"/>
                        <a:ea typeface="Verdana" panose="020B0604030504040204" pitchFamily="34" charset="0"/>
                        <a:cs typeface="Verdana"/>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extLst>
                  <a:ext uri="{0D108BD9-81ED-4DB2-BD59-A6C34878D82A}">
                    <a16:rowId xmlns:a16="http://schemas.microsoft.com/office/drawing/2014/main" val="10001"/>
                  </a:ext>
                </a:extLst>
              </a:tr>
              <a:tr h="1839595">
                <a:tc>
                  <a:txBody>
                    <a:bodyPr/>
                    <a:lstStyle/>
                    <a:p>
                      <a:pPr marR="372110" algn="r">
                        <a:lnSpc>
                          <a:spcPct val="100000"/>
                        </a:lnSpc>
                        <a:spcBef>
                          <a:spcPts val="275"/>
                        </a:spcBef>
                      </a:pPr>
                      <a:r>
                        <a:rPr lang="en-IN" sz="1400" dirty="0">
                          <a:latin typeface="Times New Roman"/>
                          <a:cs typeface="Times New Roman"/>
                        </a:rPr>
                        <a:t>2</a:t>
                      </a:r>
                      <a:endParaRPr sz="1400" dirty="0">
                        <a:latin typeface="Times New Roman"/>
                        <a:cs typeface="Times New Roman"/>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495300" marR="132715" indent="-353695" algn="l">
                        <a:lnSpc>
                          <a:spcPct val="100000"/>
                        </a:lnSpc>
                        <a:spcBef>
                          <a:spcPts val="350"/>
                        </a:spcBef>
                      </a:pPr>
                      <a:r>
                        <a:rPr lang="en-IN" sz="1400" dirty="0" err="1">
                          <a:latin typeface="Verdana" panose="020B0604030504040204" pitchFamily="34" charset="0"/>
                          <a:ea typeface="Verdana" panose="020B0604030504040204" pitchFamily="34" charset="0"/>
                          <a:cs typeface="Verdana"/>
                        </a:rPr>
                        <a:t>R.Kumar</a:t>
                      </a:r>
                      <a:endParaRPr sz="1400" dirty="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92075" marR="292735">
                        <a:lnSpc>
                          <a:spcPct val="100000"/>
                        </a:lnSpc>
                        <a:spcBef>
                          <a:spcPts val="350"/>
                        </a:spcBef>
                      </a:pPr>
                      <a:r>
                        <a:rPr lang="en-US" sz="1400" spc="-95" dirty="0">
                          <a:latin typeface="Verdana" panose="020B0604030504040204" pitchFamily="34" charset="0"/>
                          <a:ea typeface="Verdana" panose="020B0604030504040204" pitchFamily="34" charset="0"/>
                          <a:cs typeface="Verdana"/>
                        </a:rPr>
                        <a:t>Real-Time Vehicle Counting Using YOLOv5 on Embedded Edge Devices</a:t>
                      </a:r>
                      <a:endParaRPr sz="1400" dirty="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07314" marR="95250" indent="-2540" algn="ctr">
                        <a:lnSpc>
                          <a:spcPct val="100000"/>
                        </a:lnSpc>
                        <a:spcBef>
                          <a:spcPts val="275"/>
                        </a:spcBef>
                      </a:pPr>
                      <a:r>
                        <a:rPr lang="en-US" sz="1400" spc="-10" dirty="0">
                          <a:latin typeface="Verdana" panose="020B0604030504040204" pitchFamily="34" charset="0"/>
                          <a:ea typeface="Verdana" panose="020B0604030504040204" pitchFamily="34" charset="0"/>
                          <a:cs typeface="Times New Roman"/>
                        </a:rPr>
                        <a:t>International Journal of Advanced Computing</a:t>
                      </a:r>
                      <a:endParaRPr sz="1400" dirty="0">
                        <a:latin typeface="Verdana" panose="020B0604030504040204" pitchFamily="34" charset="0"/>
                        <a:ea typeface="Verdana" panose="020B0604030504040204" pitchFamily="34" charset="0"/>
                        <a:cs typeface="Times New Roman"/>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2700" algn="ctr">
                        <a:lnSpc>
                          <a:spcPct val="100000"/>
                        </a:lnSpc>
                        <a:spcBef>
                          <a:spcPts val="350"/>
                        </a:spcBef>
                      </a:pPr>
                      <a:r>
                        <a:rPr sz="1400" spc="-20" dirty="0">
                          <a:latin typeface="Verdana" panose="020B0604030504040204" pitchFamily="34" charset="0"/>
                          <a:ea typeface="Verdana" panose="020B0604030504040204" pitchFamily="34" charset="0"/>
                          <a:cs typeface="Verdana"/>
                        </a:rPr>
                        <a:t>20</a:t>
                      </a:r>
                      <a:r>
                        <a:rPr lang="en-IN" sz="1400" spc="-20" dirty="0">
                          <a:latin typeface="Verdana" panose="020B0604030504040204" pitchFamily="34" charset="0"/>
                          <a:ea typeface="Verdana" panose="020B0604030504040204" pitchFamily="34" charset="0"/>
                          <a:cs typeface="Verdana"/>
                        </a:rPr>
                        <a:t>23</a:t>
                      </a:r>
                      <a:endParaRPr sz="1400" dirty="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12395" marR="87630" indent="-1905" algn="ctr">
                        <a:lnSpc>
                          <a:spcPct val="100000"/>
                        </a:lnSpc>
                        <a:spcBef>
                          <a:spcPts val="350"/>
                        </a:spcBef>
                      </a:pPr>
                      <a:r>
                        <a:rPr lang="en-US" sz="1400" spc="-10" dirty="0">
                          <a:latin typeface="Verdana" panose="020B0604030504040204" pitchFamily="34" charset="0"/>
                          <a:ea typeface="Verdana" panose="020B0604030504040204" pitchFamily="34" charset="0"/>
                          <a:cs typeface="Verdana"/>
                        </a:rPr>
                        <a:t>Raspberry Pi can detect vehicles in real time using lightweight YOLO</a:t>
                      </a:r>
                      <a:endParaRPr sz="1400" dirty="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extLst>
                  <a:ext uri="{0D108BD9-81ED-4DB2-BD59-A6C34878D82A}">
                    <a16:rowId xmlns:a16="http://schemas.microsoft.com/office/drawing/2014/main" val="10002"/>
                  </a:ext>
                </a:extLst>
              </a:tr>
              <a:tr h="1267461">
                <a:tc>
                  <a:txBody>
                    <a:bodyPr/>
                    <a:lstStyle/>
                    <a:p>
                      <a:pPr marR="372110" algn="r">
                        <a:lnSpc>
                          <a:spcPct val="100000"/>
                        </a:lnSpc>
                        <a:spcBef>
                          <a:spcPts val="280"/>
                        </a:spcBef>
                      </a:pPr>
                      <a:r>
                        <a:rPr sz="1400" spc="-50" dirty="0">
                          <a:latin typeface="Times New Roman"/>
                          <a:cs typeface="Times New Roman"/>
                        </a:rPr>
                        <a:t>3</a:t>
                      </a:r>
                      <a:endParaRPr sz="1400">
                        <a:latin typeface="Times New Roman"/>
                        <a:cs typeface="Times New Roman"/>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210185">
                        <a:lnSpc>
                          <a:spcPct val="100000"/>
                        </a:lnSpc>
                        <a:spcBef>
                          <a:spcPts val="350"/>
                        </a:spcBef>
                      </a:pPr>
                      <a:r>
                        <a:rPr lang="en-IN" sz="1400" spc="-35" dirty="0">
                          <a:latin typeface="Verdana" panose="020B0604030504040204" pitchFamily="34" charset="0"/>
                          <a:ea typeface="Verdana" panose="020B0604030504040204" pitchFamily="34" charset="0"/>
                          <a:cs typeface="Verdana"/>
                        </a:rPr>
                        <a:t>L. Chen, Y. Zhou</a:t>
                      </a:r>
                      <a:endParaRPr sz="1400" dirty="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182880">
                        <a:lnSpc>
                          <a:spcPct val="100000"/>
                        </a:lnSpc>
                        <a:spcBef>
                          <a:spcPts val="350"/>
                        </a:spcBef>
                      </a:pPr>
                      <a:r>
                        <a:rPr lang="en-US" sz="1400" spc="-110" dirty="0">
                          <a:latin typeface="Verdana" panose="020B0604030504040204" pitchFamily="34" charset="0"/>
                          <a:ea typeface="Verdana" panose="020B0604030504040204" pitchFamily="34" charset="0"/>
                          <a:cs typeface="Verdana"/>
                        </a:rPr>
                        <a:t>Comparative Analysis of MQTT and HTTP for IoT Traffic Monitoring</a:t>
                      </a:r>
                      <a:endParaRPr sz="1400" dirty="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1905" algn="ctr">
                        <a:lnSpc>
                          <a:spcPct val="100000"/>
                        </a:lnSpc>
                        <a:spcBef>
                          <a:spcPts val="280"/>
                        </a:spcBef>
                      </a:pPr>
                      <a:r>
                        <a:rPr lang="en-US" sz="1400" spc="-25" dirty="0">
                          <a:latin typeface="Verdana" panose="020B0604030504040204" pitchFamily="34" charset="0"/>
                          <a:ea typeface="Verdana" panose="020B0604030504040204" pitchFamily="34" charset="0"/>
                          <a:cs typeface="Times New Roman"/>
                        </a:rPr>
                        <a:t>Journal of Network and Computer Applications</a:t>
                      </a:r>
                      <a:endParaRPr sz="1400" dirty="0">
                        <a:latin typeface="Verdana" panose="020B0604030504040204" pitchFamily="34" charset="0"/>
                        <a:ea typeface="Verdana" panose="020B0604030504040204" pitchFamily="34" charset="0"/>
                        <a:cs typeface="Times New Roman"/>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9525" algn="ctr">
                        <a:lnSpc>
                          <a:spcPct val="100000"/>
                        </a:lnSpc>
                        <a:spcBef>
                          <a:spcPts val="185"/>
                        </a:spcBef>
                      </a:pPr>
                      <a:r>
                        <a:rPr sz="1400" spc="-20" dirty="0">
                          <a:latin typeface="Verdana" panose="020B0604030504040204" pitchFamily="34" charset="0"/>
                          <a:ea typeface="Verdana" panose="020B0604030504040204" pitchFamily="34" charset="0"/>
                          <a:cs typeface="Calibri"/>
                        </a:rPr>
                        <a:t>20</a:t>
                      </a:r>
                      <a:r>
                        <a:rPr lang="en-IN" sz="1400" spc="-20" dirty="0">
                          <a:latin typeface="Verdana" panose="020B0604030504040204" pitchFamily="34" charset="0"/>
                          <a:ea typeface="Verdana" panose="020B0604030504040204" pitchFamily="34" charset="0"/>
                          <a:cs typeface="Calibri"/>
                        </a:rPr>
                        <a:t>23</a:t>
                      </a:r>
                      <a:endParaRPr sz="1400" dirty="0">
                        <a:latin typeface="Verdana" panose="020B0604030504040204" pitchFamily="34" charset="0"/>
                        <a:ea typeface="Verdana" panose="020B0604030504040204" pitchFamily="34" charset="0"/>
                        <a:cs typeface="Calibri"/>
                      </a:endParaRPr>
                    </a:p>
                  </a:txBody>
                  <a:tcPr marL="0" marR="0" marT="234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187325">
                        <a:lnSpc>
                          <a:spcPts val="1670"/>
                        </a:lnSpc>
                        <a:spcBef>
                          <a:spcPts val="350"/>
                        </a:spcBef>
                      </a:pPr>
                      <a:r>
                        <a:rPr lang="en-US" sz="1400" spc="-20" dirty="0">
                          <a:latin typeface="Verdana" panose="020B0604030504040204" pitchFamily="34" charset="0"/>
                          <a:ea typeface="Verdana" panose="020B0604030504040204" pitchFamily="34" charset="0"/>
                          <a:cs typeface="Verdana"/>
                        </a:rPr>
                        <a:t>MQTT uses 4× less bandwidth than HTTP for IoT messaging</a:t>
                      </a:r>
                      <a:endParaRPr sz="1400" dirty="0">
                        <a:latin typeface="Verdana" panose="020B0604030504040204" pitchFamily="34" charset="0"/>
                        <a:ea typeface="Verdana" panose="020B0604030504040204" pitchFamily="34" charset="0"/>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extLst>
                  <a:ext uri="{0D108BD9-81ED-4DB2-BD59-A6C34878D82A}">
                    <a16:rowId xmlns:a16="http://schemas.microsoft.com/office/drawing/2014/main" val="10003"/>
                  </a:ext>
                </a:extLst>
              </a:tr>
              <a:tr h="1370330">
                <a:tc>
                  <a:txBody>
                    <a:bodyPr/>
                    <a:lstStyle/>
                    <a:p>
                      <a:pPr marR="372110" algn="r">
                        <a:lnSpc>
                          <a:spcPct val="100000"/>
                        </a:lnSpc>
                        <a:spcBef>
                          <a:spcPts val="285"/>
                        </a:spcBef>
                      </a:pPr>
                      <a:r>
                        <a:rPr sz="1400" spc="-50" dirty="0">
                          <a:latin typeface="Times New Roman"/>
                          <a:cs typeface="Times New Roman"/>
                        </a:rPr>
                        <a:t>4</a:t>
                      </a:r>
                      <a:endParaRPr sz="1400">
                        <a:latin typeface="Times New Roman"/>
                        <a:cs typeface="Times New Roman"/>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41605" marR="108585" indent="25400">
                        <a:lnSpc>
                          <a:spcPct val="101400"/>
                        </a:lnSpc>
                        <a:spcBef>
                          <a:spcPts val="215"/>
                        </a:spcBef>
                      </a:pPr>
                      <a:r>
                        <a:rPr lang="en-IN" sz="1400" spc="-10" dirty="0">
                          <a:latin typeface="Verdana" panose="020B0604030504040204" pitchFamily="34" charset="0"/>
                          <a:ea typeface="Verdana" panose="020B0604030504040204" pitchFamily="34" charset="0"/>
                          <a:cs typeface="Verdana"/>
                        </a:rPr>
                        <a:t>M. Khan, A. Ali</a:t>
                      </a:r>
                      <a:endParaRPr sz="1400" dirty="0">
                        <a:latin typeface="Verdana" panose="020B0604030504040204" pitchFamily="34" charset="0"/>
                        <a:ea typeface="Verdana" panose="020B0604030504040204" pitchFamily="34" charset="0"/>
                        <a:cs typeface="Verdana"/>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04139" marR="175895">
                        <a:lnSpc>
                          <a:spcPct val="100000"/>
                        </a:lnSpc>
                        <a:spcBef>
                          <a:spcPts val="360"/>
                        </a:spcBef>
                      </a:pPr>
                      <a:r>
                        <a:rPr lang="en-US" sz="1400" dirty="0">
                          <a:latin typeface="Verdana" panose="020B0604030504040204" pitchFamily="34" charset="0"/>
                          <a:ea typeface="Verdana" panose="020B0604030504040204" pitchFamily="34" charset="0"/>
                          <a:cs typeface="Verdana"/>
                        </a:rPr>
                        <a:t>YOLOv8-Based Vehicle Detection Optimized for Edge Devices</a:t>
                      </a:r>
                      <a:endParaRPr sz="1400" dirty="0">
                        <a:latin typeface="Verdana" panose="020B0604030504040204" pitchFamily="34" charset="0"/>
                        <a:ea typeface="Verdana" panose="020B0604030504040204" pitchFamily="34" charset="0"/>
                        <a:cs typeface="Verdana"/>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905" algn="ctr">
                        <a:lnSpc>
                          <a:spcPct val="100000"/>
                        </a:lnSpc>
                        <a:spcBef>
                          <a:spcPts val="285"/>
                        </a:spcBef>
                      </a:pPr>
                      <a:r>
                        <a:rPr lang="en-US" sz="1400" dirty="0">
                          <a:latin typeface="Verdana" panose="020B0604030504040204" pitchFamily="34" charset="0"/>
                          <a:ea typeface="Verdana" panose="020B0604030504040204" pitchFamily="34" charset="0"/>
                          <a:cs typeface="Times New Roman"/>
                        </a:rPr>
                        <a:t>International Journal of Computer Vision</a:t>
                      </a:r>
                      <a:endParaRPr sz="1400" dirty="0">
                        <a:latin typeface="Verdana" panose="020B0604030504040204" pitchFamily="34" charset="0"/>
                        <a:ea typeface="Verdana" panose="020B0604030504040204" pitchFamily="34" charset="0"/>
                        <a:cs typeface="Times New Roman"/>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2700" algn="ctr">
                        <a:lnSpc>
                          <a:spcPct val="100000"/>
                        </a:lnSpc>
                        <a:spcBef>
                          <a:spcPts val="185"/>
                        </a:spcBef>
                      </a:pPr>
                      <a:r>
                        <a:rPr sz="1400" spc="-20" dirty="0">
                          <a:latin typeface="Verdana" panose="020B0604030504040204" pitchFamily="34" charset="0"/>
                          <a:ea typeface="Verdana" panose="020B0604030504040204" pitchFamily="34" charset="0"/>
                          <a:cs typeface="Calibri"/>
                        </a:rPr>
                        <a:t>20</a:t>
                      </a:r>
                      <a:r>
                        <a:rPr lang="en-IN" sz="1400" spc="-20" dirty="0">
                          <a:latin typeface="Verdana" panose="020B0604030504040204" pitchFamily="34" charset="0"/>
                          <a:ea typeface="Verdana" panose="020B0604030504040204" pitchFamily="34" charset="0"/>
                          <a:cs typeface="Calibri"/>
                        </a:rPr>
                        <a:t>24</a:t>
                      </a:r>
                      <a:endParaRPr sz="1400" dirty="0">
                        <a:latin typeface="Verdana" panose="020B0604030504040204" pitchFamily="34" charset="0"/>
                        <a:ea typeface="Verdana" panose="020B0604030504040204" pitchFamily="34" charset="0"/>
                        <a:cs typeface="Calibri"/>
                      </a:endParaRPr>
                    </a:p>
                  </a:txBody>
                  <a:tcPr marL="0" marR="0" marT="234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147320" marR="128270" indent="1270" algn="ctr">
                        <a:lnSpc>
                          <a:spcPct val="100000"/>
                        </a:lnSpc>
                        <a:spcBef>
                          <a:spcPts val="180"/>
                        </a:spcBef>
                      </a:pPr>
                      <a:r>
                        <a:rPr lang="en-US" sz="1400" dirty="0">
                          <a:latin typeface="Verdana" panose="020B0604030504040204" pitchFamily="34" charset="0"/>
                          <a:ea typeface="Verdana" panose="020B0604030504040204" pitchFamily="34" charset="0"/>
                          <a:cs typeface="Calibri"/>
                        </a:rPr>
                        <a:t>YOLOv8-nano runs comfortably on CPU with high accuracy</a:t>
                      </a:r>
                      <a:endParaRPr sz="1400" dirty="0">
                        <a:latin typeface="Verdana" panose="020B0604030504040204" pitchFamily="34" charset="0"/>
                        <a:ea typeface="Verdana" panose="020B0604030504040204" pitchFamily="34" charset="0"/>
                        <a:cs typeface="Calibri"/>
                      </a:endParaRPr>
                    </a:p>
                  </a:txBody>
                  <a:tcPr marL="0" marR="0" marT="22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80486" y="194513"/>
            <a:ext cx="4454525" cy="697230"/>
          </a:xfrm>
          <a:prstGeom prst="rect">
            <a:avLst/>
          </a:prstGeom>
        </p:spPr>
        <p:txBody>
          <a:bodyPr vert="horz" wrap="square" lIns="0" tIns="13335" rIns="0" bIns="0" rtlCol="0">
            <a:spAutoFit/>
          </a:bodyPr>
          <a:lstStyle/>
          <a:p>
            <a:pPr marL="12700">
              <a:lnSpc>
                <a:spcPct val="100000"/>
              </a:lnSpc>
              <a:spcBef>
                <a:spcPts val="105"/>
              </a:spcBef>
            </a:pPr>
            <a:r>
              <a:rPr spc="-10" dirty="0"/>
              <a:t>METHODOLOGY</a:t>
            </a:r>
          </a:p>
        </p:txBody>
      </p:sp>
      <p:sp>
        <p:nvSpPr>
          <p:cNvPr id="7" name="TextBox 6">
            <a:extLst>
              <a:ext uri="{FF2B5EF4-FFF2-40B4-BE49-F238E27FC236}">
                <a16:creationId xmlns:a16="http://schemas.microsoft.com/office/drawing/2014/main" id="{FD8F3CEF-E646-C272-F2F6-8CE3FDE67632}"/>
              </a:ext>
            </a:extLst>
          </p:cNvPr>
          <p:cNvSpPr txBox="1"/>
          <p:nvPr/>
        </p:nvSpPr>
        <p:spPr>
          <a:xfrm>
            <a:off x="609600" y="1305341"/>
            <a:ext cx="10058399" cy="5078313"/>
          </a:xfrm>
          <a:prstGeom prst="rect">
            <a:avLst/>
          </a:prstGeom>
          <a:noFill/>
        </p:spPr>
        <p:txBody>
          <a:bodyPr wrap="square">
            <a:spAutoFit/>
          </a:bodyPr>
          <a:lstStyle/>
          <a:p>
            <a:r>
              <a:rPr lang="en-IN" b="1" dirty="0"/>
              <a:t>VIDEO ACQUISITION</a:t>
            </a:r>
          </a:p>
          <a:p>
            <a:r>
              <a:rPr lang="en-IN" dirty="0"/>
              <a:t>Live video is captured at the edge using OpenCV at 2 frames per second.</a:t>
            </a:r>
          </a:p>
          <a:p>
            <a:endParaRPr lang="en-IN" dirty="0"/>
          </a:p>
          <a:p>
            <a:r>
              <a:rPr lang="en-IN" b="1" dirty="0"/>
              <a:t>VEHICLE DETECTION</a:t>
            </a:r>
          </a:p>
          <a:p>
            <a:r>
              <a:rPr lang="en-IN" dirty="0"/>
              <a:t>YOLOv8 nano detects and counts vehicles locally on CPU, with an OpenCVMOG2 fallback.</a:t>
            </a:r>
          </a:p>
          <a:p>
            <a:endParaRPr lang="en-IN" dirty="0"/>
          </a:p>
          <a:p>
            <a:r>
              <a:rPr lang="en-IN" b="1" dirty="0"/>
              <a:t>CONGESTION CLASSIFICATION</a:t>
            </a:r>
          </a:p>
          <a:p>
            <a:r>
              <a:rPr lang="en-IN" dirty="0"/>
              <a:t>Vehicle count is mapped to Low, Medium or High using simple thresholds.</a:t>
            </a:r>
          </a:p>
          <a:p>
            <a:endParaRPr lang="en-IN" dirty="0"/>
          </a:p>
          <a:p>
            <a:r>
              <a:rPr lang="en-IN" b="1" dirty="0"/>
              <a:t>NETWORK OPTIMIZATION</a:t>
            </a:r>
          </a:p>
          <a:p>
            <a:r>
              <a:rPr lang="en-IN" dirty="0"/>
              <a:t>Data is transmitted only on level change or every 30 s heartbeat, and every payload is </a:t>
            </a:r>
            <a:r>
              <a:rPr lang="en-IN" dirty="0" err="1"/>
              <a:t>gzip</a:t>
            </a:r>
            <a:r>
              <a:rPr lang="en-IN" dirty="0"/>
              <a:t>-compressed.</a:t>
            </a:r>
          </a:p>
          <a:p>
            <a:endParaRPr lang="en-IN" dirty="0"/>
          </a:p>
          <a:p>
            <a:r>
              <a:rPr lang="en-IN" b="1" dirty="0"/>
              <a:t>MQTT TRANSMISSION</a:t>
            </a:r>
          </a:p>
          <a:p>
            <a:r>
              <a:rPr lang="en-IN" dirty="0"/>
              <a:t>Compressed summaries are published over MQTT to a central broker.</a:t>
            </a:r>
          </a:p>
          <a:p>
            <a:endParaRPr lang="en-IN" dirty="0"/>
          </a:p>
          <a:p>
            <a:r>
              <a:rPr lang="en-IN" b="1" dirty="0"/>
              <a:t>STORAGE AND VISUALIZATION</a:t>
            </a:r>
          </a:p>
          <a:p>
            <a:r>
              <a:rPr lang="en-IN" dirty="0"/>
              <a:t>Readings are stored in SQLite and displayed live on a </a:t>
            </a:r>
            <a:r>
              <a:rPr lang="en-IN" dirty="0" err="1"/>
              <a:t>Streamlit</a:t>
            </a:r>
            <a:r>
              <a:rPr lang="en-IN" dirty="0"/>
              <a:t> dashboard.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6691" y="194513"/>
            <a:ext cx="8194675" cy="514350"/>
          </a:xfrm>
          <a:prstGeom prst="rect">
            <a:avLst/>
          </a:prstGeom>
        </p:spPr>
        <p:txBody>
          <a:bodyPr vert="horz" wrap="square" lIns="0" tIns="13335" rIns="0" bIns="0" rtlCol="0">
            <a:spAutoFit/>
          </a:bodyPr>
          <a:lstStyle/>
          <a:p>
            <a:pPr marL="12700">
              <a:lnSpc>
                <a:spcPct val="100000"/>
              </a:lnSpc>
              <a:spcBef>
                <a:spcPts val="105"/>
              </a:spcBef>
            </a:pPr>
            <a:r>
              <a:rPr sz="3200" dirty="0"/>
              <a:t>Implementation</a:t>
            </a:r>
            <a:r>
              <a:rPr sz="3200" spc="-65" dirty="0"/>
              <a:t> </a:t>
            </a:r>
            <a:r>
              <a:rPr sz="3200" dirty="0"/>
              <a:t>Details</a:t>
            </a:r>
            <a:r>
              <a:rPr sz="3200" spc="-55" dirty="0"/>
              <a:t> </a:t>
            </a:r>
            <a:r>
              <a:rPr sz="3200" dirty="0"/>
              <a:t>and</a:t>
            </a:r>
            <a:r>
              <a:rPr sz="3200" spc="-35" dirty="0"/>
              <a:t> </a:t>
            </a:r>
            <a:r>
              <a:rPr sz="3200" spc="-10" dirty="0"/>
              <a:t>Description</a:t>
            </a:r>
            <a:endParaRPr sz="3200"/>
          </a:p>
        </p:txBody>
      </p:sp>
      <p:sp>
        <p:nvSpPr>
          <p:cNvPr id="3" name="object 3"/>
          <p:cNvSpPr txBox="1"/>
          <p:nvPr/>
        </p:nvSpPr>
        <p:spPr>
          <a:xfrm>
            <a:off x="456691" y="990600"/>
            <a:ext cx="10558654" cy="5204630"/>
          </a:xfrm>
          <a:prstGeom prst="rect">
            <a:avLst/>
          </a:prstGeom>
        </p:spPr>
        <p:txBody>
          <a:bodyPr vert="horz" wrap="square" lIns="0" tIns="13335" rIns="0" bIns="0" rtlCol="0">
            <a:spAutoFit/>
          </a:bodyPr>
          <a:lstStyle/>
          <a:p>
            <a:pPr marL="12700" algn="l">
              <a:lnSpc>
                <a:spcPct val="100000"/>
              </a:lnSpc>
              <a:spcBef>
                <a:spcPts val="105"/>
              </a:spcBef>
              <a:tabLst>
                <a:tab pos="354965" algn="l"/>
              </a:tabLst>
            </a:pPr>
            <a:r>
              <a:rPr lang="en-IN" b="1" dirty="0">
                <a:latin typeface="Arial"/>
                <a:cs typeface="Arial"/>
              </a:rPr>
              <a:t>EDGE NODE</a:t>
            </a:r>
          </a:p>
          <a:p>
            <a:pPr marL="12700" algn="l">
              <a:lnSpc>
                <a:spcPct val="100000"/>
              </a:lnSpc>
              <a:spcBef>
                <a:spcPts val="105"/>
              </a:spcBef>
              <a:tabLst>
                <a:tab pos="354965" algn="l"/>
              </a:tabLst>
            </a:pPr>
            <a:r>
              <a:rPr lang="en-IN" dirty="0">
                <a:latin typeface="Arial"/>
                <a:cs typeface="Arial"/>
              </a:rPr>
              <a:t>Python edge node captures video using OpenCV and detects vehicles withYOLOv8-nano (MOG2 fallback for low-end hardware).</a:t>
            </a:r>
          </a:p>
          <a:p>
            <a:pPr marL="12700" algn="l">
              <a:lnSpc>
                <a:spcPct val="100000"/>
              </a:lnSpc>
              <a:spcBef>
                <a:spcPts val="105"/>
              </a:spcBef>
              <a:tabLst>
                <a:tab pos="354965" algn="l"/>
              </a:tabLst>
            </a:pPr>
            <a:endParaRPr lang="en-IN" dirty="0">
              <a:latin typeface="Arial"/>
              <a:cs typeface="Arial"/>
            </a:endParaRPr>
          </a:p>
          <a:p>
            <a:pPr marL="12700" algn="l">
              <a:lnSpc>
                <a:spcPct val="100000"/>
              </a:lnSpc>
              <a:spcBef>
                <a:spcPts val="105"/>
              </a:spcBef>
              <a:tabLst>
                <a:tab pos="354965" algn="l"/>
              </a:tabLst>
            </a:pPr>
            <a:r>
              <a:rPr lang="en-IN" b="1" dirty="0">
                <a:latin typeface="Arial"/>
                <a:cs typeface="Arial"/>
              </a:rPr>
              <a:t>CLASSIFICATION</a:t>
            </a:r>
          </a:p>
          <a:p>
            <a:pPr marL="12700" algn="l">
              <a:lnSpc>
                <a:spcPct val="100000"/>
              </a:lnSpc>
              <a:spcBef>
                <a:spcPts val="105"/>
              </a:spcBef>
              <a:tabLst>
                <a:tab pos="354965" algn="l"/>
              </a:tabLst>
            </a:pPr>
            <a:r>
              <a:rPr lang="en-IN" dirty="0">
                <a:latin typeface="Arial"/>
                <a:cs typeface="Arial"/>
              </a:rPr>
              <a:t>Vehicle count is mapped to Low, Medium or High congestion </a:t>
            </a:r>
            <a:r>
              <a:rPr lang="en-IN" dirty="0" err="1">
                <a:latin typeface="Arial"/>
                <a:cs typeface="Arial"/>
              </a:rPr>
              <a:t>usingconfigurable</a:t>
            </a:r>
            <a:r>
              <a:rPr lang="en-IN" dirty="0">
                <a:latin typeface="Arial"/>
                <a:cs typeface="Arial"/>
              </a:rPr>
              <a:t> thresholds.</a:t>
            </a:r>
          </a:p>
          <a:p>
            <a:pPr marL="12700" algn="l">
              <a:lnSpc>
                <a:spcPct val="100000"/>
              </a:lnSpc>
              <a:spcBef>
                <a:spcPts val="105"/>
              </a:spcBef>
              <a:tabLst>
                <a:tab pos="354965" algn="l"/>
              </a:tabLst>
            </a:pPr>
            <a:endParaRPr lang="en-IN" dirty="0">
              <a:latin typeface="Arial"/>
              <a:cs typeface="Arial"/>
            </a:endParaRPr>
          </a:p>
          <a:p>
            <a:pPr marL="12700" algn="l">
              <a:lnSpc>
                <a:spcPct val="100000"/>
              </a:lnSpc>
              <a:spcBef>
                <a:spcPts val="105"/>
              </a:spcBef>
              <a:tabLst>
                <a:tab pos="354965" algn="l"/>
              </a:tabLst>
            </a:pPr>
            <a:r>
              <a:rPr lang="en-IN" b="1" dirty="0">
                <a:latin typeface="Arial"/>
                <a:cs typeface="Arial"/>
              </a:rPr>
              <a:t>NETWORK OPTIMIZATION</a:t>
            </a:r>
          </a:p>
          <a:p>
            <a:pPr marL="12700" algn="l">
              <a:lnSpc>
                <a:spcPct val="100000"/>
              </a:lnSpc>
              <a:spcBef>
                <a:spcPts val="105"/>
              </a:spcBef>
              <a:tabLst>
                <a:tab pos="354965" algn="l"/>
              </a:tabLst>
            </a:pPr>
            <a:r>
              <a:rPr lang="en-IN" dirty="0">
                <a:latin typeface="Arial"/>
                <a:cs typeface="Arial"/>
              </a:rPr>
              <a:t>Data is sent only on level change or every 30 s heartbeat, with </a:t>
            </a:r>
            <a:r>
              <a:rPr lang="en-IN" dirty="0" err="1">
                <a:latin typeface="Arial"/>
                <a:cs typeface="Arial"/>
              </a:rPr>
              <a:t>everypayload</a:t>
            </a:r>
            <a:r>
              <a:rPr lang="en-IN" dirty="0">
                <a:latin typeface="Arial"/>
                <a:cs typeface="Arial"/>
              </a:rPr>
              <a:t> </a:t>
            </a:r>
            <a:r>
              <a:rPr lang="en-IN" dirty="0" err="1">
                <a:latin typeface="Arial"/>
                <a:cs typeface="Arial"/>
              </a:rPr>
              <a:t>gzip</a:t>
            </a:r>
            <a:r>
              <a:rPr lang="en-IN" dirty="0">
                <a:latin typeface="Arial"/>
                <a:cs typeface="Arial"/>
              </a:rPr>
              <a:t>-compressed.</a:t>
            </a:r>
          </a:p>
          <a:p>
            <a:pPr marL="12700" algn="l">
              <a:lnSpc>
                <a:spcPct val="100000"/>
              </a:lnSpc>
              <a:spcBef>
                <a:spcPts val="105"/>
              </a:spcBef>
              <a:tabLst>
                <a:tab pos="354965" algn="l"/>
              </a:tabLst>
            </a:pPr>
            <a:endParaRPr lang="en-IN" dirty="0">
              <a:latin typeface="Arial"/>
              <a:cs typeface="Arial"/>
            </a:endParaRPr>
          </a:p>
          <a:p>
            <a:pPr marL="12700" algn="l">
              <a:lnSpc>
                <a:spcPct val="100000"/>
              </a:lnSpc>
              <a:spcBef>
                <a:spcPts val="105"/>
              </a:spcBef>
              <a:tabLst>
                <a:tab pos="354965" algn="l"/>
              </a:tabLst>
            </a:pPr>
            <a:r>
              <a:rPr lang="en-IN" b="1" dirty="0">
                <a:latin typeface="Arial"/>
                <a:cs typeface="Arial"/>
              </a:rPr>
              <a:t>COMMUNICATION</a:t>
            </a:r>
          </a:p>
          <a:p>
            <a:pPr marL="12700" algn="l">
              <a:lnSpc>
                <a:spcPct val="100000"/>
              </a:lnSpc>
              <a:spcBef>
                <a:spcPts val="105"/>
              </a:spcBef>
              <a:tabLst>
                <a:tab pos="354965" algn="l"/>
              </a:tabLst>
            </a:pPr>
            <a:r>
              <a:rPr lang="en-IN" dirty="0">
                <a:latin typeface="Arial"/>
                <a:cs typeface="Arial"/>
              </a:rPr>
              <a:t>Compressed summaries are published over MQTT to a central broker(</a:t>
            </a:r>
            <a:r>
              <a:rPr lang="en-IN" dirty="0" err="1">
                <a:latin typeface="Arial"/>
                <a:cs typeface="Arial"/>
              </a:rPr>
              <a:t>Mosquitto</a:t>
            </a:r>
            <a:r>
              <a:rPr lang="en-IN" dirty="0">
                <a:latin typeface="Arial"/>
                <a:cs typeface="Arial"/>
              </a:rPr>
              <a:t> / </a:t>
            </a:r>
            <a:r>
              <a:rPr lang="en-IN" dirty="0" err="1">
                <a:latin typeface="Arial"/>
                <a:cs typeface="Arial"/>
              </a:rPr>
              <a:t>HiveMQ</a:t>
            </a:r>
            <a:r>
              <a:rPr lang="en-IN" dirty="0">
                <a:latin typeface="Arial"/>
                <a:cs typeface="Arial"/>
              </a:rPr>
              <a:t>).</a:t>
            </a:r>
          </a:p>
          <a:p>
            <a:pPr marL="12700" algn="l">
              <a:lnSpc>
                <a:spcPct val="100000"/>
              </a:lnSpc>
              <a:spcBef>
                <a:spcPts val="105"/>
              </a:spcBef>
              <a:tabLst>
                <a:tab pos="354965" algn="l"/>
              </a:tabLst>
            </a:pPr>
            <a:endParaRPr lang="en-IN" dirty="0">
              <a:latin typeface="Arial"/>
              <a:cs typeface="Arial"/>
            </a:endParaRPr>
          </a:p>
          <a:p>
            <a:pPr marL="12700" algn="l">
              <a:lnSpc>
                <a:spcPct val="100000"/>
              </a:lnSpc>
              <a:spcBef>
                <a:spcPts val="105"/>
              </a:spcBef>
              <a:tabLst>
                <a:tab pos="354965" algn="l"/>
              </a:tabLst>
            </a:pPr>
            <a:r>
              <a:rPr lang="en-IN" b="1" dirty="0">
                <a:latin typeface="Arial"/>
                <a:cs typeface="Arial"/>
              </a:rPr>
              <a:t>SERVER AND STORAGE</a:t>
            </a:r>
          </a:p>
          <a:p>
            <a:pPr marL="12700" algn="l">
              <a:lnSpc>
                <a:spcPct val="100000"/>
              </a:lnSpc>
              <a:spcBef>
                <a:spcPts val="105"/>
              </a:spcBef>
              <a:tabLst>
                <a:tab pos="354965" algn="l"/>
              </a:tabLst>
            </a:pPr>
            <a:r>
              <a:rPr lang="en-IN" dirty="0">
                <a:latin typeface="Arial"/>
                <a:cs typeface="Arial"/>
              </a:rPr>
              <a:t>A Python subscriber decompresses, validates and stores each </a:t>
            </a:r>
            <a:r>
              <a:rPr lang="en-IN" dirty="0" err="1">
                <a:latin typeface="Arial"/>
                <a:cs typeface="Arial"/>
              </a:rPr>
              <a:t>readingin</a:t>
            </a:r>
            <a:r>
              <a:rPr lang="en-IN" dirty="0">
                <a:latin typeface="Arial"/>
                <a:cs typeface="Arial"/>
              </a:rPr>
              <a:t> SQLite.</a:t>
            </a:r>
          </a:p>
          <a:p>
            <a:pPr marL="12700" algn="l">
              <a:lnSpc>
                <a:spcPct val="100000"/>
              </a:lnSpc>
              <a:spcBef>
                <a:spcPts val="105"/>
              </a:spcBef>
              <a:tabLst>
                <a:tab pos="354965" algn="l"/>
              </a:tabLst>
            </a:pPr>
            <a:endParaRPr lang="en-IN" dirty="0">
              <a:latin typeface="Arial"/>
              <a:cs typeface="Arial"/>
            </a:endParaRPr>
          </a:p>
          <a:p>
            <a:pPr marL="12700" algn="l">
              <a:lnSpc>
                <a:spcPct val="100000"/>
              </a:lnSpc>
              <a:spcBef>
                <a:spcPts val="105"/>
              </a:spcBef>
              <a:tabLst>
                <a:tab pos="354965" algn="l"/>
              </a:tabLst>
            </a:pPr>
            <a:r>
              <a:rPr lang="en-IN" b="1" dirty="0">
                <a:latin typeface="Arial"/>
                <a:cs typeface="Arial"/>
              </a:rPr>
              <a:t>DASHBOARD</a:t>
            </a:r>
          </a:p>
          <a:p>
            <a:pPr marL="12700" algn="l">
              <a:lnSpc>
                <a:spcPct val="100000"/>
              </a:lnSpc>
              <a:spcBef>
                <a:spcPts val="105"/>
              </a:spcBef>
              <a:tabLst>
                <a:tab pos="354965" algn="l"/>
              </a:tabLst>
            </a:pPr>
            <a:r>
              <a:rPr lang="en-IN" dirty="0">
                <a:latin typeface="Arial"/>
                <a:cs typeface="Arial"/>
              </a:rPr>
              <a:t>A </a:t>
            </a:r>
            <a:r>
              <a:rPr lang="en-IN" dirty="0" err="1">
                <a:latin typeface="Arial"/>
                <a:cs typeface="Arial"/>
              </a:rPr>
              <a:t>Streamlit</a:t>
            </a:r>
            <a:r>
              <a:rPr lang="en-IN" dirty="0">
                <a:latin typeface="Arial"/>
                <a:cs typeface="Arial"/>
              </a:rPr>
              <a:t> dashboard shows live status cards, time-series charts </a:t>
            </a:r>
            <a:r>
              <a:rPr lang="en-IN" dirty="0" err="1">
                <a:latin typeface="Arial"/>
                <a:cs typeface="Arial"/>
              </a:rPr>
              <a:t>andbandwidth</a:t>
            </a:r>
            <a:r>
              <a:rPr lang="en-IN" dirty="0">
                <a:latin typeface="Arial"/>
                <a:cs typeface="Arial"/>
              </a:rPr>
              <a:t> statistics.</a:t>
            </a:r>
            <a:endParaRPr dirty="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3098165">
              <a:lnSpc>
                <a:spcPct val="100000"/>
              </a:lnSpc>
              <a:spcBef>
                <a:spcPts val="95"/>
              </a:spcBef>
            </a:pPr>
            <a:r>
              <a:rPr sz="4000" spc="-95" dirty="0"/>
              <a:t>Block</a:t>
            </a:r>
            <a:r>
              <a:rPr sz="4000" spc="-250" dirty="0"/>
              <a:t> </a:t>
            </a:r>
            <a:r>
              <a:rPr sz="4000" spc="-45" dirty="0"/>
              <a:t>Diagram</a:t>
            </a:r>
            <a:endParaRPr sz="4000"/>
          </a:p>
        </p:txBody>
      </p:sp>
      <p:grpSp>
        <p:nvGrpSpPr>
          <p:cNvPr id="3" name="object 3"/>
          <p:cNvGrpSpPr/>
          <p:nvPr/>
        </p:nvGrpSpPr>
        <p:grpSpPr>
          <a:xfrm>
            <a:off x="-4762" y="-4762"/>
            <a:ext cx="281305" cy="2425065"/>
            <a:chOff x="-4762" y="-4762"/>
            <a:chExt cx="281305" cy="2425065"/>
          </a:xfrm>
        </p:grpSpPr>
        <p:pic>
          <p:nvPicPr>
            <p:cNvPr id="4" name="object 4"/>
            <p:cNvPicPr/>
            <p:nvPr/>
          </p:nvPicPr>
          <p:blipFill>
            <a:blip r:embed="rId2" cstate="print"/>
            <a:stretch>
              <a:fillRect/>
            </a:stretch>
          </p:blipFill>
          <p:spPr>
            <a:xfrm>
              <a:off x="6134" y="12700"/>
              <a:ext cx="269925" cy="2407412"/>
            </a:xfrm>
            <a:prstGeom prst="rect">
              <a:avLst/>
            </a:prstGeom>
          </p:spPr>
        </p:pic>
        <p:pic>
          <p:nvPicPr>
            <p:cNvPr id="5" name="object 5"/>
            <p:cNvPicPr/>
            <p:nvPr/>
          </p:nvPicPr>
          <p:blipFill>
            <a:blip r:embed="rId3" cstate="print"/>
            <a:stretch>
              <a:fillRect/>
            </a:stretch>
          </p:blipFill>
          <p:spPr>
            <a:xfrm>
              <a:off x="0" y="0"/>
              <a:ext cx="242392" cy="2363597"/>
            </a:xfrm>
            <a:prstGeom prst="rect">
              <a:avLst/>
            </a:prstGeom>
          </p:spPr>
        </p:pic>
        <p:sp>
          <p:nvSpPr>
            <p:cNvPr id="6" name="object 6"/>
            <p:cNvSpPr/>
            <p:nvPr/>
          </p:nvSpPr>
          <p:spPr>
            <a:xfrm>
              <a:off x="0" y="0"/>
              <a:ext cx="242570" cy="2364105"/>
            </a:xfrm>
            <a:custGeom>
              <a:avLst/>
              <a:gdLst/>
              <a:ahLst/>
              <a:cxnLst/>
              <a:rect l="l" t="t" r="r" b="b"/>
              <a:pathLst>
                <a:path w="242570" h="2364105">
                  <a:moveTo>
                    <a:pt x="0" y="0"/>
                  </a:moveTo>
                  <a:lnTo>
                    <a:pt x="0" y="2363597"/>
                  </a:lnTo>
                  <a:lnTo>
                    <a:pt x="242392" y="2363597"/>
                  </a:lnTo>
                  <a:lnTo>
                    <a:pt x="242392" y="0"/>
                  </a:lnTo>
                </a:path>
              </a:pathLst>
            </a:custGeom>
            <a:ln w="9525">
              <a:solidFill>
                <a:srgbClr val="46AAC5"/>
              </a:solidFill>
            </a:ln>
          </p:spPr>
          <p:txBody>
            <a:bodyPr wrap="square" lIns="0" tIns="0" rIns="0" bIns="0" rtlCol="0"/>
            <a:lstStyle/>
            <a:p>
              <a:endParaRPr/>
            </a:p>
          </p:txBody>
        </p:sp>
      </p:grpSp>
      <p:grpSp>
        <p:nvGrpSpPr>
          <p:cNvPr id="7" name="object 7"/>
          <p:cNvGrpSpPr/>
          <p:nvPr/>
        </p:nvGrpSpPr>
        <p:grpSpPr>
          <a:xfrm>
            <a:off x="11149456" y="4473187"/>
            <a:ext cx="285750" cy="2390140"/>
            <a:chOff x="11149456" y="4473187"/>
            <a:chExt cx="285750" cy="2390140"/>
          </a:xfrm>
        </p:grpSpPr>
        <p:pic>
          <p:nvPicPr>
            <p:cNvPr id="8" name="object 8"/>
            <p:cNvPicPr/>
            <p:nvPr/>
          </p:nvPicPr>
          <p:blipFill>
            <a:blip r:embed="rId4" cstate="print"/>
            <a:stretch>
              <a:fillRect/>
            </a:stretch>
          </p:blipFill>
          <p:spPr>
            <a:xfrm>
              <a:off x="11149456" y="4473187"/>
              <a:ext cx="280504" cy="2384806"/>
            </a:xfrm>
            <a:prstGeom prst="rect">
              <a:avLst/>
            </a:prstGeom>
          </p:spPr>
        </p:pic>
        <p:pic>
          <p:nvPicPr>
            <p:cNvPr id="9" name="object 9"/>
            <p:cNvPicPr/>
            <p:nvPr/>
          </p:nvPicPr>
          <p:blipFill>
            <a:blip r:embed="rId5" cstate="print"/>
            <a:stretch>
              <a:fillRect/>
            </a:stretch>
          </p:blipFill>
          <p:spPr>
            <a:xfrm>
              <a:off x="11187556" y="4481699"/>
              <a:ext cx="242392" cy="2376296"/>
            </a:xfrm>
            <a:prstGeom prst="rect">
              <a:avLst/>
            </a:prstGeom>
          </p:spPr>
        </p:pic>
        <p:sp>
          <p:nvSpPr>
            <p:cNvPr id="10" name="object 10"/>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589132" y="6431991"/>
            <a:ext cx="122555"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68686"/>
                </a:solidFill>
                <a:latin typeface="Verdana"/>
                <a:cs typeface="Verdana"/>
              </a:rPr>
              <a:t>8</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006DC0"/>
                </a:solidFill>
                <a:latin typeface="Verdana"/>
                <a:cs typeface="Verdana"/>
              </a:rPr>
              <a:t>Vel</a:t>
            </a:r>
            <a:r>
              <a:rPr sz="1200" spc="-105" dirty="0">
                <a:solidFill>
                  <a:srgbClr val="006DC0"/>
                </a:solidFill>
                <a:latin typeface="Verdana"/>
                <a:cs typeface="Verdana"/>
              </a:rPr>
              <a:t> </a:t>
            </a:r>
            <a:r>
              <a:rPr sz="1200" spc="-20" dirty="0">
                <a:solidFill>
                  <a:srgbClr val="006DC0"/>
                </a:solidFill>
                <a:latin typeface="Verdana"/>
                <a:cs typeface="Verdana"/>
              </a:rPr>
              <a:t>Tech</a:t>
            </a:r>
            <a:r>
              <a:rPr sz="1200" spc="-105" dirty="0">
                <a:solidFill>
                  <a:srgbClr val="006DC0"/>
                </a:solidFill>
                <a:latin typeface="Verdana"/>
                <a:cs typeface="Verdana"/>
              </a:rPr>
              <a:t> </a:t>
            </a:r>
            <a:r>
              <a:rPr sz="1200" spc="-10" dirty="0">
                <a:solidFill>
                  <a:srgbClr val="006DC0"/>
                </a:solidFill>
                <a:latin typeface="Verdana"/>
                <a:cs typeface="Verdana"/>
              </a:rPr>
              <a:t>Rangarajan</a:t>
            </a:r>
            <a:r>
              <a:rPr sz="1200" spc="70" dirty="0">
                <a:solidFill>
                  <a:srgbClr val="006DC0"/>
                </a:solidFill>
                <a:latin typeface="Verdana"/>
                <a:cs typeface="Verdana"/>
              </a:rPr>
              <a:t> </a:t>
            </a:r>
            <a:r>
              <a:rPr sz="1200" spc="-70" dirty="0">
                <a:solidFill>
                  <a:srgbClr val="006DC0"/>
                </a:solidFill>
                <a:latin typeface="Verdana"/>
                <a:cs typeface="Verdana"/>
              </a:rPr>
              <a:t>Dr.</a:t>
            </a:r>
            <a:r>
              <a:rPr sz="1200" spc="-250" dirty="0">
                <a:solidFill>
                  <a:srgbClr val="006DC0"/>
                </a:solidFill>
                <a:latin typeface="Verdana"/>
                <a:cs typeface="Verdana"/>
              </a:rPr>
              <a:t> </a:t>
            </a:r>
            <a:r>
              <a:rPr sz="1200" spc="-25" dirty="0">
                <a:solidFill>
                  <a:srgbClr val="006DC0"/>
                </a:solidFill>
                <a:latin typeface="Verdana"/>
                <a:cs typeface="Verdana"/>
              </a:rPr>
              <a:t>Sagunthala</a:t>
            </a:r>
            <a:r>
              <a:rPr sz="1200" spc="30" dirty="0">
                <a:solidFill>
                  <a:srgbClr val="006DC0"/>
                </a:solidFill>
                <a:latin typeface="Verdana"/>
                <a:cs typeface="Verdana"/>
              </a:rPr>
              <a:t> </a:t>
            </a:r>
            <a:r>
              <a:rPr sz="1200" spc="-45" dirty="0">
                <a:solidFill>
                  <a:srgbClr val="006DC0"/>
                </a:solidFill>
                <a:latin typeface="Verdana"/>
                <a:cs typeface="Verdana"/>
              </a:rPr>
              <a:t>R&amp;D</a:t>
            </a:r>
            <a:r>
              <a:rPr sz="1200" spc="-150" dirty="0">
                <a:solidFill>
                  <a:srgbClr val="006DC0"/>
                </a:solidFill>
                <a:latin typeface="Verdana"/>
                <a:cs typeface="Verdana"/>
              </a:rPr>
              <a:t> </a:t>
            </a:r>
            <a:r>
              <a:rPr sz="1200" spc="-100" dirty="0">
                <a:solidFill>
                  <a:srgbClr val="006DC0"/>
                </a:solidFill>
                <a:latin typeface="Verdana"/>
                <a:cs typeface="Verdana"/>
              </a:rPr>
              <a:t>Institute</a:t>
            </a:r>
            <a:r>
              <a:rPr sz="1200" spc="-120" dirty="0">
                <a:solidFill>
                  <a:srgbClr val="006DC0"/>
                </a:solidFill>
                <a:latin typeface="Verdana"/>
                <a:cs typeface="Verdana"/>
              </a:rPr>
              <a:t> </a:t>
            </a:r>
            <a:r>
              <a:rPr sz="1200" dirty="0">
                <a:solidFill>
                  <a:srgbClr val="006DC0"/>
                </a:solidFill>
                <a:latin typeface="Verdana"/>
                <a:cs typeface="Verdana"/>
              </a:rPr>
              <a:t>of</a:t>
            </a:r>
            <a:r>
              <a:rPr sz="1200" spc="-80" dirty="0">
                <a:solidFill>
                  <a:srgbClr val="006DC0"/>
                </a:solidFill>
                <a:latin typeface="Verdana"/>
                <a:cs typeface="Verdana"/>
              </a:rPr>
              <a:t> </a:t>
            </a:r>
            <a:r>
              <a:rPr sz="1200" spc="-20" dirty="0">
                <a:solidFill>
                  <a:srgbClr val="006DC0"/>
                </a:solidFill>
                <a:latin typeface="Verdana"/>
                <a:cs typeface="Verdana"/>
              </a:rPr>
              <a:t>Science</a:t>
            </a:r>
            <a:r>
              <a:rPr sz="1200" spc="-70" dirty="0">
                <a:solidFill>
                  <a:srgbClr val="006DC0"/>
                </a:solidFill>
                <a:latin typeface="Verdana"/>
                <a:cs typeface="Verdana"/>
              </a:rPr>
              <a:t> </a:t>
            </a:r>
            <a:r>
              <a:rPr sz="1200" dirty="0">
                <a:solidFill>
                  <a:srgbClr val="006DC0"/>
                </a:solidFill>
                <a:latin typeface="Verdana"/>
                <a:cs typeface="Verdana"/>
              </a:rPr>
              <a:t>and</a:t>
            </a:r>
            <a:r>
              <a:rPr sz="1200" spc="-20" dirty="0">
                <a:solidFill>
                  <a:srgbClr val="006DC0"/>
                </a:solidFill>
                <a:latin typeface="Verdana"/>
                <a:cs typeface="Verdana"/>
              </a:rPr>
              <a:t> </a:t>
            </a:r>
            <a:r>
              <a:rPr sz="1200" spc="-10" dirty="0">
                <a:solidFill>
                  <a:srgbClr val="006DC0"/>
                </a:solidFill>
                <a:latin typeface="Verdana"/>
                <a:cs typeface="Verdana"/>
              </a:rPr>
              <a:t>Technology</a:t>
            </a:r>
            <a:endParaRPr sz="1200">
              <a:latin typeface="Verdana"/>
              <a:cs typeface="Verdana"/>
            </a:endParaRPr>
          </a:p>
        </p:txBody>
      </p:sp>
      <p:pic>
        <p:nvPicPr>
          <p:cNvPr id="14" name="Picture 13">
            <a:extLst>
              <a:ext uri="{FF2B5EF4-FFF2-40B4-BE49-F238E27FC236}">
                <a16:creationId xmlns:a16="http://schemas.microsoft.com/office/drawing/2014/main" id="{951BF92F-8346-BB39-6DEE-97DB0A18D1C2}"/>
              </a:ext>
            </a:extLst>
          </p:cNvPr>
          <p:cNvPicPr>
            <a:picLocks noChangeAspect="1"/>
          </p:cNvPicPr>
          <p:nvPr/>
        </p:nvPicPr>
        <p:blipFill>
          <a:blip r:embed="rId6"/>
          <a:stretch>
            <a:fillRect/>
          </a:stretch>
        </p:blipFill>
        <p:spPr>
          <a:xfrm>
            <a:off x="2793873" y="1298024"/>
            <a:ext cx="6055940" cy="43675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6691" y="104597"/>
            <a:ext cx="8941561" cy="987322"/>
          </a:xfrm>
          <a:prstGeom prst="rect">
            <a:avLst/>
          </a:prstGeom>
        </p:spPr>
        <p:txBody>
          <a:bodyPr vert="horz" wrap="square" lIns="0" tIns="368173" rIns="0" bIns="0" rtlCol="0">
            <a:spAutoFit/>
          </a:bodyPr>
          <a:lstStyle/>
          <a:p>
            <a:pPr marL="1504315">
              <a:lnSpc>
                <a:spcPct val="100000"/>
              </a:lnSpc>
              <a:spcBef>
                <a:spcPts val="95"/>
              </a:spcBef>
            </a:pPr>
            <a:r>
              <a:rPr lang="en-IN" sz="4000" spc="-225" dirty="0"/>
              <a:t>   </a:t>
            </a:r>
            <a:r>
              <a:rPr sz="4000" spc="-225" dirty="0" err="1"/>
              <a:t>Softwar</a:t>
            </a:r>
            <a:r>
              <a:rPr lang="en-IN" sz="4000" spc="-225" dirty="0"/>
              <a:t>e</a:t>
            </a:r>
            <a:r>
              <a:rPr sz="4000" spc="-245" dirty="0"/>
              <a:t> </a:t>
            </a:r>
            <a:r>
              <a:rPr sz="4000" spc="-95" dirty="0"/>
              <a:t>to</a:t>
            </a:r>
            <a:r>
              <a:rPr sz="4000" spc="-270" dirty="0"/>
              <a:t> </a:t>
            </a:r>
            <a:r>
              <a:rPr sz="4000" dirty="0"/>
              <a:t>be</a:t>
            </a:r>
            <a:r>
              <a:rPr sz="4000" spc="229" dirty="0"/>
              <a:t> </a:t>
            </a:r>
            <a:r>
              <a:rPr sz="4000" spc="-20" dirty="0"/>
              <a:t>used</a:t>
            </a:r>
            <a:endParaRPr sz="4000" dirty="0"/>
          </a:p>
        </p:txBody>
      </p:sp>
      <p:sp>
        <p:nvSpPr>
          <p:cNvPr id="5" name="object 5"/>
          <p:cNvSpPr txBox="1"/>
          <p:nvPr/>
        </p:nvSpPr>
        <p:spPr>
          <a:xfrm>
            <a:off x="1143000" y="1337642"/>
            <a:ext cx="5075936" cy="391795"/>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Tahoma"/>
                <a:cs typeface="Tahoma"/>
              </a:rPr>
              <a:t>Software:</a:t>
            </a:r>
            <a:endParaRPr sz="2400" dirty="0">
              <a:latin typeface="Tahoma"/>
              <a:cs typeface="Tahoma"/>
            </a:endParaRPr>
          </a:p>
        </p:txBody>
      </p:sp>
      <p:grpSp>
        <p:nvGrpSpPr>
          <p:cNvPr id="7" name="object 7"/>
          <p:cNvGrpSpPr/>
          <p:nvPr/>
        </p:nvGrpSpPr>
        <p:grpSpPr>
          <a:xfrm>
            <a:off x="-4762" y="-4762"/>
            <a:ext cx="281305" cy="2437130"/>
            <a:chOff x="-4762" y="-4762"/>
            <a:chExt cx="281305" cy="2437130"/>
          </a:xfrm>
        </p:grpSpPr>
        <p:pic>
          <p:nvPicPr>
            <p:cNvPr id="8" name="object 8"/>
            <p:cNvPicPr/>
            <p:nvPr/>
          </p:nvPicPr>
          <p:blipFill>
            <a:blip r:embed="rId2" cstate="print"/>
            <a:stretch>
              <a:fillRect/>
            </a:stretch>
          </p:blipFill>
          <p:spPr>
            <a:xfrm>
              <a:off x="6134" y="12700"/>
              <a:ext cx="269925" cy="2419604"/>
            </a:xfrm>
            <a:prstGeom prst="rect">
              <a:avLst/>
            </a:prstGeom>
          </p:spPr>
        </p:pic>
        <p:pic>
          <p:nvPicPr>
            <p:cNvPr id="9" name="object 9"/>
            <p:cNvPicPr/>
            <p:nvPr/>
          </p:nvPicPr>
          <p:blipFill>
            <a:blip r:embed="rId3" cstate="print"/>
            <a:stretch>
              <a:fillRect/>
            </a:stretch>
          </p:blipFill>
          <p:spPr>
            <a:xfrm>
              <a:off x="0" y="0"/>
              <a:ext cx="242392" cy="2376297"/>
            </a:xfrm>
            <a:prstGeom prst="rect">
              <a:avLst/>
            </a:prstGeom>
          </p:spPr>
        </p:pic>
        <p:sp>
          <p:nvSpPr>
            <p:cNvPr id="10" name="object 10"/>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11" name="object 11"/>
          <p:cNvGrpSpPr/>
          <p:nvPr/>
        </p:nvGrpSpPr>
        <p:grpSpPr>
          <a:xfrm>
            <a:off x="11149456" y="4473187"/>
            <a:ext cx="285750" cy="2390140"/>
            <a:chOff x="11149456" y="4473187"/>
            <a:chExt cx="285750" cy="2390140"/>
          </a:xfrm>
        </p:grpSpPr>
        <p:pic>
          <p:nvPicPr>
            <p:cNvPr id="12" name="object 12"/>
            <p:cNvPicPr/>
            <p:nvPr/>
          </p:nvPicPr>
          <p:blipFill>
            <a:blip r:embed="rId4" cstate="print"/>
            <a:stretch>
              <a:fillRect/>
            </a:stretch>
          </p:blipFill>
          <p:spPr>
            <a:xfrm>
              <a:off x="11149456" y="4473187"/>
              <a:ext cx="280504" cy="2384806"/>
            </a:xfrm>
            <a:prstGeom prst="rect">
              <a:avLst/>
            </a:prstGeom>
          </p:spPr>
        </p:pic>
        <p:pic>
          <p:nvPicPr>
            <p:cNvPr id="13" name="object 13"/>
            <p:cNvPicPr/>
            <p:nvPr/>
          </p:nvPicPr>
          <p:blipFill>
            <a:blip r:embed="rId5" cstate="print"/>
            <a:stretch>
              <a:fillRect/>
            </a:stretch>
          </p:blipFill>
          <p:spPr>
            <a:xfrm>
              <a:off x="11187556" y="4481699"/>
              <a:ext cx="242392" cy="2376296"/>
            </a:xfrm>
            <a:prstGeom prst="rect">
              <a:avLst/>
            </a:prstGeom>
          </p:spPr>
        </p:pic>
        <p:sp>
          <p:nvSpPr>
            <p:cNvPr id="14" name="object 14"/>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5" name="object 15"/>
          <p:cNvSpPr txBox="1"/>
          <p:nvPr/>
        </p:nvSpPr>
        <p:spPr>
          <a:xfrm>
            <a:off x="10589132" y="6431991"/>
            <a:ext cx="214629"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68686"/>
                </a:solidFill>
                <a:latin typeface="Verdana"/>
                <a:cs typeface="Verdana"/>
              </a:rPr>
              <a:t>10</a:t>
            </a:r>
            <a:endParaRPr sz="1200">
              <a:latin typeface="Verdana"/>
              <a:cs typeface="Verdana"/>
            </a:endParaRPr>
          </a:p>
        </p:txBody>
      </p:sp>
      <p:sp>
        <p:nvSpPr>
          <p:cNvPr id="16" name="object 16"/>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006DC0"/>
                </a:solidFill>
                <a:latin typeface="Verdana"/>
                <a:cs typeface="Verdana"/>
              </a:rPr>
              <a:t>Vel</a:t>
            </a:r>
            <a:r>
              <a:rPr sz="1200" spc="-105" dirty="0">
                <a:solidFill>
                  <a:srgbClr val="006DC0"/>
                </a:solidFill>
                <a:latin typeface="Verdana"/>
                <a:cs typeface="Verdana"/>
              </a:rPr>
              <a:t> </a:t>
            </a:r>
            <a:r>
              <a:rPr sz="1200" spc="-20" dirty="0">
                <a:solidFill>
                  <a:srgbClr val="006DC0"/>
                </a:solidFill>
                <a:latin typeface="Verdana"/>
                <a:cs typeface="Verdana"/>
              </a:rPr>
              <a:t>Tech</a:t>
            </a:r>
            <a:r>
              <a:rPr sz="1200" spc="-105" dirty="0">
                <a:solidFill>
                  <a:srgbClr val="006DC0"/>
                </a:solidFill>
                <a:latin typeface="Verdana"/>
                <a:cs typeface="Verdana"/>
              </a:rPr>
              <a:t> </a:t>
            </a:r>
            <a:r>
              <a:rPr sz="1200" spc="-10" dirty="0">
                <a:solidFill>
                  <a:srgbClr val="006DC0"/>
                </a:solidFill>
                <a:latin typeface="Verdana"/>
                <a:cs typeface="Verdana"/>
              </a:rPr>
              <a:t>Rangarajan</a:t>
            </a:r>
            <a:r>
              <a:rPr sz="1200" spc="70" dirty="0">
                <a:solidFill>
                  <a:srgbClr val="006DC0"/>
                </a:solidFill>
                <a:latin typeface="Verdana"/>
                <a:cs typeface="Verdana"/>
              </a:rPr>
              <a:t> </a:t>
            </a:r>
            <a:r>
              <a:rPr sz="1200" spc="-70" dirty="0">
                <a:solidFill>
                  <a:srgbClr val="006DC0"/>
                </a:solidFill>
                <a:latin typeface="Verdana"/>
                <a:cs typeface="Verdana"/>
              </a:rPr>
              <a:t>Dr.</a:t>
            </a:r>
            <a:r>
              <a:rPr sz="1200" spc="-250" dirty="0">
                <a:solidFill>
                  <a:srgbClr val="006DC0"/>
                </a:solidFill>
                <a:latin typeface="Verdana"/>
                <a:cs typeface="Verdana"/>
              </a:rPr>
              <a:t> </a:t>
            </a:r>
            <a:r>
              <a:rPr sz="1200" spc="-25" dirty="0">
                <a:solidFill>
                  <a:srgbClr val="006DC0"/>
                </a:solidFill>
                <a:latin typeface="Verdana"/>
                <a:cs typeface="Verdana"/>
              </a:rPr>
              <a:t>Sagunthala</a:t>
            </a:r>
            <a:r>
              <a:rPr sz="1200" spc="30" dirty="0">
                <a:solidFill>
                  <a:srgbClr val="006DC0"/>
                </a:solidFill>
                <a:latin typeface="Verdana"/>
                <a:cs typeface="Verdana"/>
              </a:rPr>
              <a:t> </a:t>
            </a:r>
            <a:r>
              <a:rPr sz="1200" spc="-45" dirty="0">
                <a:solidFill>
                  <a:srgbClr val="006DC0"/>
                </a:solidFill>
                <a:latin typeface="Verdana"/>
                <a:cs typeface="Verdana"/>
              </a:rPr>
              <a:t>R&amp;D</a:t>
            </a:r>
            <a:r>
              <a:rPr sz="1200" spc="-150" dirty="0">
                <a:solidFill>
                  <a:srgbClr val="006DC0"/>
                </a:solidFill>
                <a:latin typeface="Verdana"/>
                <a:cs typeface="Verdana"/>
              </a:rPr>
              <a:t> </a:t>
            </a:r>
            <a:r>
              <a:rPr sz="1200" spc="-100" dirty="0">
                <a:solidFill>
                  <a:srgbClr val="006DC0"/>
                </a:solidFill>
                <a:latin typeface="Verdana"/>
                <a:cs typeface="Verdana"/>
              </a:rPr>
              <a:t>Institute</a:t>
            </a:r>
            <a:r>
              <a:rPr sz="1200" spc="-120" dirty="0">
                <a:solidFill>
                  <a:srgbClr val="006DC0"/>
                </a:solidFill>
                <a:latin typeface="Verdana"/>
                <a:cs typeface="Verdana"/>
              </a:rPr>
              <a:t> </a:t>
            </a:r>
            <a:r>
              <a:rPr sz="1200" dirty="0">
                <a:solidFill>
                  <a:srgbClr val="006DC0"/>
                </a:solidFill>
                <a:latin typeface="Verdana"/>
                <a:cs typeface="Verdana"/>
              </a:rPr>
              <a:t>of</a:t>
            </a:r>
            <a:r>
              <a:rPr sz="1200" spc="-80" dirty="0">
                <a:solidFill>
                  <a:srgbClr val="006DC0"/>
                </a:solidFill>
                <a:latin typeface="Verdana"/>
                <a:cs typeface="Verdana"/>
              </a:rPr>
              <a:t> </a:t>
            </a:r>
            <a:r>
              <a:rPr sz="1200" spc="-20" dirty="0">
                <a:solidFill>
                  <a:srgbClr val="006DC0"/>
                </a:solidFill>
                <a:latin typeface="Verdana"/>
                <a:cs typeface="Verdana"/>
              </a:rPr>
              <a:t>Science</a:t>
            </a:r>
            <a:r>
              <a:rPr sz="1200" spc="-70" dirty="0">
                <a:solidFill>
                  <a:srgbClr val="006DC0"/>
                </a:solidFill>
                <a:latin typeface="Verdana"/>
                <a:cs typeface="Verdana"/>
              </a:rPr>
              <a:t> </a:t>
            </a:r>
            <a:r>
              <a:rPr sz="1200" dirty="0">
                <a:solidFill>
                  <a:srgbClr val="006DC0"/>
                </a:solidFill>
                <a:latin typeface="Verdana"/>
                <a:cs typeface="Verdana"/>
              </a:rPr>
              <a:t>and</a:t>
            </a:r>
            <a:r>
              <a:rPr sz="1200" spc="-20" dirty="0">
                <a:solidFill>
                  <a:srgbClr val="006DC0"/>
                </a:solidFill>
                <a:latin typeface="Verdana"/>
                <a:cs typeface="Verdana"/>
              </a:rPr>
              <a:t> </a:t>
            </a:r>
            <a:r>
              <a:rPr sz="1200" spc="-10" dirty="0">
                <a:solidFill>
                  <a:srgbClr val="006DC0"/>
                </a:solidFill>
                <a:latin typeface="Verdana"/>
                <a:cs typeface="Verdana"/>
              </a:rPr>
              <a:t>Technology</a:t>
            </a:r>
            <a:endParaRPr sz="1200">
              <a:latin typeface="Verdana"/>
              <a:cs typeface="Verdana"/>
            </a:endParaRPr>
          </a:p>
        </p:txBody>
      </p:sp>
      <p:sp>
        <p:nvSpPr>
          <p:cNvPr id="18" name="TextBox 17">
            <a:extLst>
              <a:ext uri="{FF2B5EF4-FFF2-40B4-BE49-F238E27FC236}">
                <a16:creationId xmlns:a16="http://schemas.microsoft.com/office/drawing/2014/main" id="{E04B3ACB-3AA0-BAE6-30E8-EC546ECDAE84}"/>
              </a:ext>
            </a:extLst>
          </p:cNvPr>
          <p:cNvSpPr txBox="1"/>
          <p:nvPr/>
        </p:nvSpPr>
        <p:spPr>
          <a:xfrm>
            <a:off x="1066800" y="2043654"/>
            <a:ext cx="8534400" cy="3785652"/>
          </a:xfrm>
          <a:prstGeom prst="rect">
            <a:avLst/>
          </a:prstGeom>
          <a:noFill/>
        </p:spPr>
        <p:txBody>
          <a:bodyPr wrap="square">
            <a:spAutoFit/>
          </a:bodyPr>
          <a:lstStyle/>
          <a:p>
            <a:pPr marL="342900" indent="-342900" algn="just">
              <a:buFont typeface="Arial" panose="020B0604020202020204" pitchFamily="34" charset="0"/>
              <a:buChar char="•"/>
            </a:pPr>
            <a:r>
              <a:rPr lang="en-IN" sz="2000" dirty="0"/>
              <a:t>Python 3.12        – Main programming language</a:t>
            </a:r>
          </a:p>
          <a:p>
            <a:pPr marL="342900" indent="-342900" algn="just">
              <a:buFont typeface="Arial" panose="020B0604020202020204" pitchFamily="34" charset="0"/>
              <a:buChar char="•"/>
            </a:pPr>
            <a:r>
              <a:rPr lang="en-IN" sz="2000" dirty="0"/>
              <a:t>OpenCV 4.9         – Video capture and image processing</a:t>
            </a:r>
          </a:p>
          <a:p>
            <a:pPr marL="342900" indent="-342900" algn="just">
              <a:buFont typeface="Arial" panose="020B0604020202020204" pitchFamily="34" charset="0"/>
              <a:buChar char="•"/>
            </a:pPr>
            <a:r>
              <a:rPr lang="en-IN" sz="2000" dirty="0" err="1"/>
              <a:t>Ultralytics</a:t>
            </a:r>
            <a:r>
              <a:rPr lang="en-IN" sz="2000" dirty="0"/>
              <a:t> YOLOv8 – Vehicle detection (nano model)</a:t>
            </a:r>
          </a:p>
          <a:p>
            <a:pPr marL="342900" indent="-342900" algn="just">
              <a:buFont typeface="Arial" panose="020B0604020202020204" pitchFamily="34" charset="0"/>
              <a:buChar char="•"/>
            </a:pPr>
            <a:r>
              <a:rPr lang="en-IN" sz="2000" dirty="0"/>
              <a:t>Paho-MQTT          – MQTT publish/subscribe client</a:t>
            </a:r>
          </a:p>
          <a:p>
            <a:pPr marL="342900" indent="-342900" algn="just">
              <a:buFont typeface="Arial" panose="020B0604020202020204" pitchFamily="34" charset="0"/>
              <a:buChar char="•"/>
            </a:pPr>
            <a:r>
              <a:rPr lang="en-IN" sz="2000" dirty="0" err="1"/>
              <a:t>Mosquitto</a:t>
            </a:r>
            <a:r>
              <a:rPr lang="en-IN" sz="2000" dirty="0"/>
              <a:t> / </a:t>
            </a:r>
            <a:r>
              <a:rPr lang="en-IN" sz="2000" dirty="0" err="1"/>
              <a:t>HiveMQ</a:t>
            </a:r>
            <a:r>
              <a:rPr lang="en-IN" sz="2000" dirty="0"/>
              <a:t> – MQTT broker</a:t>
            </a:r>
          </a:p>
          <a:p>
            <a:pPr marL="342900" indent="-342900" algn="just">
              <a:buFont typeface="Arial" panose="020B0604020202020204" pitchFamily="34" charset="0"/>
              <a:buChar char="•"/>
            </a:pPr>
            <a:r>
              <a:rPr lang="en-IN" sz="2000" dirty="0"/>
              <a:t>SQLite 3           – Lightweight database</a:t>
            </a:r>
          </a:p>
          <a:p>
            <a:pPr marL="342900" indent="-342900" algn="just">
              <a:buFont typeface="Arial" panose="020B0604020202020204" pitchFamily="34" charset="0"/>
              <a:buChar char="•"/>
            </a:pPr>
            <a:r>
              <a:rPr lang="en-IN" sz="2000" dirty="0" err="1"/>
              <a:t>Streamlit</a:t>
            </a:r>
            <a:r>
              <a:rPr lang="en-IN" sz="2000" dirty="0"/>
              <a:t>          – Web dashboard framework</a:t>
            </a:r>
          </a:p>
          <a:p>
            <a:pPr marL="342900" indent="-342900" algn="just">
              <a:buFont typeface="Arial" panose="020B0604020202020204" pitchFamily="34" charset="0"/>
              <a:buChar char="•"/>
            </a:pPr>
            <a:r>
              <a:rPr lang="en-IN" sz="2000" dirty="0"/>
              <a:t>Plotly             – Interactive charts</a:t>
            </a:r>
          </a:p>
          <a:p>
            <a:pPr marL="342900" indent="-342900" algn="just">
              <a:buFont typeface="Arial" panose="020B0604020202020204" pitchFamily="34" charset="0"/>
              <a:buChar char="•"/>
            </a:pPr>
            <a:r>
              <a:rPr lang="en-IN" sz="2000" dirty="0"/>
              <a:t>Pandas + NumPy     – Data handling</a:t>
            </a:r>
          </a:p>
          <a:p>
            <a:pPr marL="342900" indent="-342900" algn="just">
              <a:buFont typeface="Arial" panose="020B0604020202020204" pitchFamily="34" charset="0"/>
              <a:buChar char="•"/>
            </a:pPr>
            <a:r>
              <a:rPr lang="en-IN" sz="2000" dirty="0"/>
              <a:t>VS Code            – Development environment</a:t>
            </a:r>
          </a:p>
          <a:p>
            <a:pPr marL="342900" indent="-342900" algn="just">
              <a:buFont typeface="Arial" panose="020B0604020202020204" pitchFamily="34" charset="0"/>
              <a:buChar char="•"/>
            </a:pPr>
            <a:r>
              <a:rPr lang="en-IN" sz="2000" dirty="0"/>
              <a:t>Git / GitHub       – Version control</a:t>
            </a:r>
          </a:p>
          <a:p>
            <a:pPr marL="342900" indent="-342900" algn="just">
              <a:buFont typeface="Arial" panose="020B0604020202020204" pitchFamily="34" charset="0"/>
              <a:buChar char="•"/>
            </a:pPr>
            <a:r>
              <a:rPr lang="en-IN" sz="2000" dirty="0"/>
              <a:t>Google Chrome      – Dashboard viewing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03251" rIns="0" bIns="0" rtlCol="0">
            <a:spAutoFit/>
          </a:bodyPr>
          <a:lstStyle/>
          <a:p>
            <a:pPr marL="2998470">
              <a:lnSpc>
                <a:spcPct val="100000"/>
              </a:lnSpc>
              <a:spcBef>
                <a:spcPts val="105"/>
              </a:spcBef>
            </a:pPr>
            <a:r>
              <a:rPr spc="-215" dirty="0"/>
              <a:t>Output</a:t>
            </a:r>
            <a:r>
              <a:rPr spc="-855" dirty="0"/>
              <a:t> </a:t>
            </a:r>
            <a:r>
              <a:rPr dirty="0"/>
              <a:t>&amp;</a:t>
            </a:r>
            <a:r>
              <a:rPr spc="-520" dirty="0"/>
              <a:t> </a:t>
            </a:r>
            <a:r>
              <a:rPr spc="-180" dirty="0"/>
              <a:t>Results</a:t>
            </a:r>
          </a:p>
        </p:txBody>
      </p:sp>
      <p:pic>
        <p:nvPicPr>
          <p:cNvPr id="8" name="Picture 7">
            <a:extLst>
              <a:ext uri="{FF2B5EF4-FFF2-40B4-BE49-F238E27FC236}">
                <a16:creationId xmlns:a16="http://schemas.microsoft.com/office/drawing/2014/main" id="{2AF1AD15-2717-04CA-7A9E-9D888C422A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040" y="1676400"/>
            <a:ext cx="5029200" cy="3756184"/>
          </a:xfrm>
          <a:prstGeom prst="rect">
            <a:avLst/>
          </a:prstGeom>
        </p:spPr>
      </p:pic>
      <p:pic>
        <p:nvPicPr>
          <p:cNvPr id="10" name="Picture 9">
            <a:extLst>
              <a:ext uri="{FF2B5EF4-FFF2-40B4-BE49-F238E27FC236}">
                <a16:creationId xmlns:a16="http://schemas.microsoft.com/office/drawing/2014/main" id="{07132074-D55E-FD90-11CD-7B408B3C82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1214500"/>
            <a:ext cx="4162422" cy="50006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68173" rIns="0" bIns="0" rtlCol="0">
            <a:spAutoFit/>
          </a:bodyPr>
          <a:lstStyle/>
          <a:p>
            <a:pPr marL="2429510">
              <a:lnSpc>
                <a:spcPct val="100000"/>
              </a:lnSpc>
              <a:spcBef>
                <a:spcPts val="95"/>
              </a:spcBef>
            </a:pPr>
            <a:r>
              <a:rPr sz="4000" spc="-254" dirty="0"/>
              <a:t>Results</a:t>
            </a:r>
            <a:r>
              <a:rPr sz="4000" spc="-420" dirty="0"/>
              <a:t> </a:t>
            </a:r>
            <a:r>
              <a:rPr sz="4000" dirty="0"/>
              <a:t>and</a:t>
            </a:r>
            <a:r>
              <a:rPr sz="4000" spc="-45" dirty="0"/>
              <a:t> </a:t>
            </a:r>
            <a:r>
              <a:rPr sz="4000" spc="-110" dirty="0"/>
              <a:t>Discussions</a:t>
            </a:r>
            <a:endParaRPr sz="4000"/>
          </a:p>
        </p:txBody>
      </p:sp>
      <p:grpSp>
        <p:nvGrpSpPr>
          <p:cNvPr id="4" name="object 4"/>
          <p:cNvGrpSpPr/>
          <p:nvPr/>
        </p:nvGrpSpPr>
        <p:grpSpPr>
          <a:xfrm>
            <a:off x="-4762" y="-4762"/>
            <a:ext cx="281305" cy="2437130"/>
            <a:chOff x="-4762" y="-4762"/>
            <a:chExt cx="281305" cy="2437130"/>
          </a:xfrm>
        </p:grpSpPr>
        <p:pic>
          <p:nvPicPr>
            <p:cNvPr id="5" name="object 5"/>
            <p:cNvPicPr/>
            <p:nvPr/>
          </p:nvPicPr>
          <p:blipFill>
            <a:blip r:embed="rId2" cstate="print"/>
            <a:stretch>
              <a:fillRect/>
            </a:stretch>
          </p:blipFill>
          <p:spPr>
            <a:xfrm>
              <a:off x="6134" y="12700"/>
              <a:ext cx="269925" cy="2419604"/>
            </a:xfrm>
            <a:prstGeom prst="rect">
              <a:avLst/>
            </a:prstGeom>
          </p:spPr>
        </p:pic>
        <p:pic>
          <p:nvPicPr>
            <p:cNvPr id="6" name="object 6"/>
            <p:cNvPicPr/>
            <p:nvPr/>
          </p:nvPicPr>
          <p:blipFill>
            <a:blip r:embed="rId3" cstate="print"/>
            <a:stretch>
              <a:fillRect/>
            </a:stretch>
          </p:blipFill>
          <p:spPr>
            <a:xfrm>
              <a:off x="0" y="0"/>
              <a:ext cx="242392" cy="2376297"/>
            </a:xfrm>
            <a:prstGeom prst="rect">
              <a:avLst/>
            </a:prstGeom>
          </p:spPr>
        </p:pic>
        <p:sp>
          <p:nvSpPr>
            <p:cNvPr id="7" name="object 7"/>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4473187"/>
            <a:ext cx="285750" cy="2390140"/>
            <a:chOff x="11149456" y="4473187"/>
            <a:chExt cx="285750" cy="2390140"/>
          </a:xfrm>
        </p:grpSpPr>
        <p:pic>
          <p:nvPicPr>
            <p:cNvPr id="9" name="object 9"/>
            <p:cNvPicPr/>
            <p:nvPr/>
          </p:nvPicPr>
          <p:blipFill>
            <a:blip r:embed="rId4" cstate="print"/>
            <a:stretch>
              <a:fillRect/>
            </a:stretch>
          </p:blipFill>
          <p:spPr>
            <a:xfrm>
              <a:off x="11149456" y="4473187"/>
              <a:ext cx="280504" cy="2384806"/>
            </a:xfrm>
            <a:prstGeom prst="rect">
              <a:avLst/>
            </a:prstGeom>
          </p:spPr>
        </p:pic>
        <p:pic>
          <p:nvPicPr>
            <p:cNvPr id="10" name="object 10"/>
            <p:cNvPicPr/>
            <p:nvPr/>
          </p:nvPicPr>
          <p:blipFill>
            <a:blip r:embed="rId5" cstate="print"/>
            <a:stretch>
              <a:fillRect/>
            </a:stretch>
          </p:blipFill>
          <p:spPr>
            <a:xfrm>
              <a:off x="11187556" y="4481699"/>
              <a:ext cx="242392" cy="2376296"/>
            </a:xfrm>
            <a:prstGeom prst="rect">
              <a:avLst/>
            </a:prstGeom>
          </p:spPr>
        </p:pic>
        <p:sp>
          <p:nvSpPr>
            <p:cNvPr id="11" name="object 11"/>
            <p:cNvSpPr/>
            <p:nvPr/>
          </p:nvSpPr>
          <p:spPr>
            <a:xfrm>
              <a:off x="11187556"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589132" y="6431991"/>
            <a:ext cx="214629"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68686"/>
                </a:solidFill>
                <a:latin typeface="Verdana"/>
                <a:cs typeface="Verdana"/>
              </a:rPr>
              <a:t>12</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006DC0"/>
                </a:solidFill>
                <a:latin typeface="Verdana"/>
                <a:cs typeface="Verdana"/>
              </a:rPr>
              <a:t>Vel</a:t>
            </a:r>
            <a:r>
              <a:rPr sz="1200" spc="-105" dirty="0">
                <a:solidFill>
                  <a:srgbClr val="006DC0"/>
                </a:solidFill>
                <a:latin typeface="Verdana"/>
                <a:cs typeface="Verdana"/>
              </a:rPr>
              <a:t> </a:t>
            </a:r>
            <a:r>
              <a:rPr sz="1200" spc="-20" dirty="0">
                <a:solidFill>
                  <a:srgbClr val="006DC0"/>
                </a:solidFill>
                <a:latin typeface="Verdana"/>
                <a:cs typeface="Verdana"/>
              </a:rPr>
              <a:t>Tech</a:t>
            </a:r>
            <a:r>
              <a:rPr sz="1200" spc="-105" dirty="0">
                <a:solidFill>
                  <a:srgbClr val="006DC0"/>
                </a:solidFill>
                <a:latin typeface="Verdana"/>
                <a:cs typeface="Verdana"/>
              </a:rPr>
              <a:t> </a:t>
            </a:r>
            <a:r>
              <a:rPr sz="1200" spc="-10" dirty="0">
                <a:solidFill>
                  <a:srgbClr val="006DC0"/>
                </a:solidFill>
                <a:latin typeface="Verdana"/>
                <a:cs typeface="Verdana"/>
              </a:rPr>
              <a:t>Rangarajan</a:t>
            </a:r>
            <a:r>
              <a:rPr sz="1200" spc="70" dirty="0">
                <a:solidFill>
                  <a:srgbClr val="006DC0"/>
                </a:solidFill>
                <a:latin typeface="Verdana"/>
                <a:cs typeface="Verdana"/>
              </a:rPr>
              <a:t> </a:t>
            </a:r>
            <a:r>
              <a:rPr sz="1200" spc="-70" dirty="0">
                <a:solidFill>
                  <a:srgbClr val="006DC0"/>
                </a:solidFill>
                <a:latin typeface="Verdana"/>
                <a:cs typeface="Verdana"/>
              </a:rPr>
              <a:t>Dr.</a:t>
            </a:r>
            <a:r>
              <a:rPr sz="1200" spc="-250" dirty="0">
                <a:solidFill>
                  <a:srgbClr val="006DC0"/>
                </a:solidFill>
                <a:latin typeface="Verdana"/>
                <a:cs typeface="Verdana"/>
              </a:rPr>
              <a:t> </a:t>
            </a:r>
            <a:r>
              <a:rPr sz="1200" spc="-25" dirty="0">
                <a:solidFill>
                  <a:srgbClr val="006DC0"/>
                </a:solidFill>
                <a:latin typeface="Verdana"/>
                <a:cs typeface="Verdana"/>
              </a:rPr>
              <a:t>Sagunthala</a:t>
            </a:r>
            <a:r>
              <a:rPr sz="1200" spc="30" dirty="0">
                <a:solidFill>
                  <a:srgbClr val="006DC0"/>
                </a:solidFill>
                <a:latin typeface="Verdana"/>
                <a:cs typeface="Verdana"/>
              </a:rPr>
              <a:t> </a:t>
            </a:r>
            <a:r>
              <a:rPr sz="1200" spc="-45" dirty="0">
                <a:solidFill>
                  <a:srgbClr val="006DC0"/>
                </a:solidFill>
                <a:latin typeface="Verdana"/>
                <a:cs typeface="Verdana"/>
              </a:rPr>
              <a:t>R&amp;D</a:t>
            </a:r>
            <a:r>
              <a:rPr sz="1200" spc="-150" dirty="0">
                <a:solidFill>
                  <a:srgbClr val="006DC0"/>
                </a:solidFill>
                <a:latin typeface="Verdana"/>
                <a:cs typeface="Verdana"/>
              </a:rPr>
              <a:t> </a:t>
            </a:r>
            <a:r>
              <a:rPr sz="1200" spc="-100" dirty="0">
                <a:solidFill>
                  <a:srgbClr val="006DC0"/>
                </a:solidFill>
                <a:latin typeface="Verdana"/>
                <a:cs typeface="Verdana"/>
              </a:rPr>
              <a:t>Institute</a:t>
            </a:r>
            <a:r>
              <a:rPr sz="1200" spc="-120" dirty="0">
                <a:solidFill>
                  <a:srgbClr val="006DC0"/>
                </a:solidFill>
                <a:latin typeface="Verdana"/>
                <a:cs typeface="Verdana"/>
              </a:rPr>
              <a:t> </a:t>
            </a:r>
            <a:r>
              <a:rPr sz="1200" dirty="0">
                <a:solidFill>
                  <a:srgbClr val="006DC0"/>
                </a:solidFill>
                <a:latin typeface="Verdana"/>
                <a:cs typeface="Verdana"/>
              </a:rPr>
              <a:t>of</a:t>
            </a:r>
            <a:r>
              <a:rPr sz="1200" spc="-80" dirty="0">
                <a:solidFill>
                  <a:srgbClr val="006DC0"/>
                </a:solidFill>
                <a:latin typeface="Verdana"/>
                <a:cs typeface="Verdana"/>
              </a:rPr>
              <a:t> </a:t>
            </a:r>
            <a:r>
              <a:rPr sz="1200" spc="-20" dirty="0">
                <a:solidFill>
                  <a:srgbClr val="006DC0"/>
                </a:solidFill>
                <a:latin typeface="Verdana"/>
                <a:cs typeface="Verdana"/>
              </a:rPr>
              <a:t>Science</a:t>
            </a:r>
            <a:r>
              <a:rPr sz="1200" spc="-70" dirty="0">
                <a:solidFill>
                  <a:srgbClr val="006DC0"/>
                </a:solidFill>
                <a:latin typeface="Verdana"/>
                <a:cs typeface="Verdana"/>
              </a:rPr>
              <a:t> </a:t>
            </a:r>
            <a:r>
              <a:rPr sz="1200" dirty="0">
                <a:solidFill>
                  <a:srgbClr val="006DC0"/>
                </a:solidFill>
                <a:latin typeface="Verdana"/>
                <a:cs typeface="Verdana"/>
              </a:rPr>
              <a:t>and</a:t>
            </a:r>
            <a:r>
              <a:rPr sz="1200" spc="-20" dirty="0">
                <a:solidFill>
                  <a:srgbClr val="006DC0"/>
                </a:solidFill>
                <a:latin typeface="Verdana"/>
                <a:cs typeface="Verdana"/>
              </a:rPr>
              <a:t> </a:t>
            </a:r>
            <a:r>
              <a:rPr sz="1200" spc="-10" dirty="0">
                <a:solidFill>
                  <a:srgbClr val="006DC0"/>
                </a:solidFill>
                <a:latin typeface="Verdana"/>
                <a:cs typeface="Verdana"/>
              </a:rPr>
              <a:t>Technology</a:t>
            </a:r>
            <a:endParaRPr sz="1200">
              <a:latin typeface="Verdana"/>
              <a:cs typeface="Verdana"/>
            </a:endParaRPr>
          </a:p>
        </p:txBody>
      </p:sp>
      <p:sp>
        <p:nvSpPr>
          <p:cNvPr id="19" name="TextBox 18">
            <a:extLst>
              <a:ext uri="{FF2B5EF4-FFF2-40B4-BE49-F238E27FC236}">
                <a16:creationId xmlns:a16="http://schemas.microsoft.com/office/drawing/2014/main" id="{93541B04-1322-998C-D008-A2CF3B4936DF}"/>
              </a:ext>
            </a:extLst>
          </p:cNvPr>
          <p:cNvSpPr txBox="1"/>
          <p:nvPr/>
        </p:nvSpPr>
        <p:spPr>
          <a:xfrm>
            <a:off x="1066799" y="1720840"/>
            <a:ext cx="9176637" cy="4708981"/>
          </a:xfrm>
          <a:prstGeom prst="rect">
            <a:avLst/>
          </a:prstGeom>
          <a:noFill/>
        </p:spPr>
        <p:txBody>
          <a:bodyPr wrap="square">
            <a:spAutoFit/>
          </a:bodyPr>
          <a:lstStyle/>
          <a:p>
            <a:pPr marL="285750" indent="-285750" algn="just">
              <a:buFont typeface="Arial" panose="020B0604020202020204" pitchFamily="34" charset="0"/>
              <a:buChar char="•"/>
            </a:pPr>
            <a:r>
              <a:rPr lang="en-IN" sz="2000" dirty="0"/>
              <a:t>The system was tested with a single edge node and with multiple simulated edge nodes running in parallel.</a:t>
            </a:r>
          </a:p>
          <a:p>
            <a:pPr marL="285750" indent="-285750" algn="just">
              <a:buFont typeface="Arial" panose="020B0604020202020204" pitchFamily="34" charset="0"/>
              <a:buChar char="•"/>
            </a:pPr>
            <a:r>
              <a:rPr lang="en-IN" sz="2000" dirty="0"/>
              <a:t>Vehicle detection worked smoothly on a normal CPU-only laptop without needing any GPU.</a:t>
            </a:r>
          </a:p>
          <a:p>
            <a:pPr marL="285750" indent="-285750" algn="just">
              <a:buFont typeface="Arial" panose="020B0604020202020204" pitchFamily="34" charset="0"/>
              <a:buChar char="•"/>
            </a:pPr>
            <a:r>
              <a:rPr lang="en-IN" sz="2000" dirty="0"/>
              <a:t>The edge node correctly classified traffic as Low, Medium or High in real time.</a:t>
            </a:r>
          </a:p>
          <a:p>
            <a:pPr marL="285750" indent="-285750" algn="just">
              <a:buFont typeface="Arial" panose="020B0604020202020204" pitchFamily="34" charset="0"/>
              <a:buChar char="•"/>
            </a:pPr>
            <a:r>
              <a:rPr lang="en-IN" sz="2000" dirty="0"/>
              <a:t>The optimizer reduced network usage significantly by sending data only on level changes and </a:t>
            </a:r>
            <a:r>
              <a:rPr lang="en-IN" sz="2000" dirty="0" err="1"/>
              <a:t>gzip</a:t>
            </a:r>
            <a:r>
              <a:rPr lang="en-IN" sz="2000" dirty="0"/>
              <a:t>-compressing each payload.</a:t>
            </a:r>
          </a:p>
          <a:p>
            <a:pPr marL="285750" indent="-285750" algn="just">
              <a:buFont typeface="Arial" panose="020B0604020202020204" pitchFamily="34" charset="0"/>
              <a:buChar char="•"/>
            </a:pPr>
            <a:r>
              <a:rPr lang="en-IN" sz="2000" dirty="0"/>
              <a:t>The central server received, validated and stored every reading without errors.</a:t>
            </a:r>
          </a:p>
          <a:p>
            <a:pPr marL="285750" indent="-285750" algn="just">
              <a:buFont typeface="Arial" panose="020B0604020202020204" pitchFamily="34" charset="0"/>
              <a:buChar char="•"/>
            </a:pPr>
            <a:r>
              <a:rPr lang="en-IN" sz="2000" dirty="0"/>
              <a:t>The </a:t>
            </a:r>
            <a:r>
              <a:rPr lang="en-IN" sz="2000" dirty="0" err="1"/>
              <a:t>Streamlit</a:t>
            </a:r>
            <a:r>
              <a:rPr lang="en-IN" sz="2000" dirty="0"/>
              <a:t> dashboard displayed live vehicle counts, congestion levels and bandwidth statistics with smooth auto-refresh.</a:t>
            </a:r>
          </a:p>
          <a:p>
            <a:pPr marL="285750" indent="-285750" algn="just">
              <a:buFont typeface="Arial" panose="020B0604020202020204" pitchFamily="34" charset="0"/>
              <a:buChar char="•"/>
            </a:pPr>
            <a:r>
              <a:rPr lang="en-IN" sz="2000" dirty="0"/>
              <a:t>The overall system was stable, lightweight and demo-ready, proving that edge intelligence can deliver smart-city traffic monitoring at very low bandwidth.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23036" rIns="0" bIns="0" rtlCol="0">
            <a:spAutoFit/>
          </a:bodyPr>
          <a:lstStyle/>
          <a:p>
            <a:pPr marL="4097020">
              <a:lnSpc>
                <a:spcPct val="100000"/>
              </a:lnSpc>
              <a:spcBef>
                <a:spcPts val="95"/>
              </a:spcBef>
            </a:pPr>
            <a:r>
              <a:rPr sz="4000" spc="-10" dirty="0"/>
              <a:t>Conclusion</a:t>
            </a:r>
            <a:endParaRPr sz="4000"/>
          </a:p>
        </p:txBody>
      </p:sp>
      <p:sp>
        <p:nvSpPr>
          <p:cNvPr id="3" name="object 3"/>
          <p:cNvSpPr txBox="1"/>
          <p:nvPr/>
        </p:nvSpPr>
        <p:spPr>
          <a:xfrm>
            <a:off x="693292" y="1828800"/>
            <a:ext cx="10074275" cy="2966838"/>
          </a:xfrm>
          <a:prstGeom prst="rect">
            <a:avLst/>
          </a:prstGeom>
        </p:spPr>
        <p:txBody>
          <a:bodyPr vert="horz" wrap="square" lIns="0" tIns="12065" rIns="0" bIns="0" rtlCol="0">
            <a:spAutoFit/>
          </a:bodyPr>
          <a:lstStyle/>
          <a:p>
            <a:pPr marL="12700" marR="5080" algn="just">
              <a:lnSpc>
                <a:spcPct val="100099"/>
              </a:lnSpc>
              <a:spcBef>
                <a:spcPts val="95"/>
              </a:spcBef>
            </a:pPr>
            <a:r>
              <a:rPr lang="en-US" sz="2400" dirty="0">
                <a:latin typeface="Arial MT"/>
                <a:cs typeface="Arial MT"/>
              </a:rPr>
              <a:t>The Edge-Based Traffic Data Aggregation and Network Load Optimization System developed in this project demonstrates a practical and effective solution to one of the most pressing problems in modern smart-city deployments, which is the unsustainable bandwidth, storage and processing cost of streaming raw traffic video to a central cloud. By moving vehicle detection to the edge and trans-mitting only compact, compressed and event-driven summaries, the proposed system delivers the same operational insight at a fraction of the network cost.</a:t>
            </a:r>
            <a:endParaRPr sz="2400" dirty="0">
              <a:latin typeface="Arial MT"/>
              <a:cs typeface="Arial MT"/>
            </a:endParaRPr>
          </a:p>
        </p:txBody>
      </p:sp>
      <p:grpSp>
        <p:nvGrpSpPr>
          <p:cNvPr id="4" name="object 4"/>
          <p:cNvGrpSpPr/>
          <p:nvPr/>
        </p:nvGrpSpPr>
        <p:grpSpPr>
          <a:xfrm>
            <a:off x="-4762" y="-3238"/>
            <a:ext cx="281305" cy="2437130"/>
            <a:chOff x="-4762" y="-3238"/>
            <a:chExt cx="281305" cy="2437130"/>
          </a:xfrm>
        </p:grpSpPr>
        <p:pic>
          <p:nvPicPr>
            <p:cNvPr id="5" name="object 5"/>
            <p:cNvPicPr/>
            <p:nvPr/>
          </p:nvPicPr>
          <p:blipFill>
            <a:blip r:embed="rId2" cstate="print"/>
            <a:stretch>
              <a:fillRect/>
            </a:stretch>
          </p:blipFill>
          <p:spPr>
            <a:xfrm>
              <a:off x="6134" y="12700"/>
              <a:ext cx="269925" cy="2421128"/>
            </a:xfrm>
            <a:prstGeom prst="rect">
              <a:avLst/>
            </a:prstGeom>
          </p:spPr>
        </p:pic>
        <p:pic>
          <p:nvPicPr>
            <p:cNvPr id="6" name="object 6"/>
            <p:cNvPicPr/>
            <p:nvPr/>
          </p:nvPicPr>
          <p:blipFill>
            <a:blip r:embed="rId3" cstate="print"/>
            <a:stretch>
              <a:fillRect/>
            </a:stretch>
          </p:blipFill>
          <p:spPr>
            <a:xfrm>
              <a:off x="0" y="1524"/>
              <a:ext cx="242392" cy="2376297"/>
            </a:xfrm>
            <a:prstGeom prst="rect">
              <a:avLst/>
            </a:prstGeom>
          </p:spPr>
        </p:pic>
        <p:sp>
          <p:nvSpPr>
            <p:cNvPr id="7" name="object 7"/>
            <p:cNvSpPr/>
            <p:nvPr/>
          </p:nvSpPr>
          <p:spPr>
            <a:xfrm>
              <a:off x="0" y="1524"/>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53902" y="4473189"/>
            <a:ext cx="281305" cy="2390140"/>
            <a:chOff x="11153902" y="4473189"/>
            <a:chExt cx="281305" cy="2390140"/>
          </a:xfrm>
        </p:grpSpPr>
        <p:pic>
          <p:nvPicPr>
            <p:cNvPr id="9" name="object 9"/>
            <p:cNvPicPr/>
            <p:nvPr/>
          </p:nvPicPr>
          <p:blipFill>
            <a:blip r:embed="rId4" cstate="print"/>
            <a:stretch>
              <a:fillRect/>
            </a:stretch>
          </p:blipFill>
          <p:spPr>
            <a:xfrm>
              <a:off x="11153902" y="4473189"/>
              <a:ext cx="276085" cy="2384805"/>
            </a:xfrm>
            <a:prstGeom prst="rect">
              <a:avLst/>
            </a:prstGeom>
          </p:spPr>
        </p:pic>
        <p:pic>
          <p:nvPicPr>
            <p:cNvPr id="10" name="object 10"/>
            <p:cNvPicPr/>
            <p:nvPr/>
          </p:nvPicPr>
          <p:blipFill>
            <a:blip r:embed="rId5" cstate="print"/>
            <a:stretch>
              <a:fillRect/>
            </a:stretch>
          </p:blipFill>
          <p:spPr>
            <a:xfrm>
              <a:off x="11192510" y="4481699"/>
              <a:ext cx="237490" cy="2376297"/>
            </a:xfrm>
            <a:prstGeom prst="rect">
              <a:avLst/>
            </a:prstGeom>
          </p:spPr>
        </p:pic>
        <p:sp>
          <p:nvSpPr>
            <p:cNvPr id="11" name="object 11"/>
            <p:cNvSpPr/>
            <p:nvPr/>
          </p:nvSpPr>
          <p:spPr>
            <a:xfrm>
              <a:off x="11192510" y="4481703"/>
              <a:ext cx="237490" cy="2376805"/>
            </a:xfrm>
            <a:custGeom>
              <a:avLst/>
              <a:gdLst/>
              <a:ahLst/>
              <a:cxnLst/>
              <a:rect l="l" t="t" r="r" b="b"/>
              <a:pathLst>
                <a:path w="237490" h="2376804">
                  <a:moveTo>
                    <a:pt x="237490" y="0"/>
                  </a:moveTo>
                  <a:lnTo>
                    <a:pt x="0" y="0"/>
                  </a:lnTo>
                  <a:lnTo>
                    <a:pt x="0" y="2376297"/>
                  </a:lnTo>
                  <a:lnTo>
                    <a:pt x="237490" y="2376297"/>
                  </a:lnTo>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589514" y="6431991"/>
            <a:ext cx="214629"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68686"/>
                </a:solidFill>
                <a:latin typeface="Verdana"/>
                <a:cs typeface="Verdana"/>
              </a:rPr>
              <a:t>16</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006DC0"/>
                </a:solidFill>
                <a:latin typeface="Verdana"/>
                <a:cs typeface="Verdana"/>
              </a:rPr>
              <a:t>Vel</a:t>
            </a:r>
            <a:r>
              <a:rPr sz="1200" spc="-105" dirty="0">
                <a:solidFill>
                  <a:srgbClr val="006DC0"/>
                </a:solidFill>
                <a:latin typeface="Verdana"/>
                <a:cs typeface="Verdana"/>
              </a:rPr>
              <a:t> </a:t>
            </a:r>
            <a:r>
              <a:rPr sz="1200" spc="-20" dirty="0">
                <a:solidFill>
                  <a:srgbClr val="006DC0"/>
                </a:solidFill>
                <a:latin typeface="Verdana"/>
                <a:cs typeface="Verdana"/>
              </a:rPr>
              <a:t>Tech</a:t>
            </a:r>
            <a:r>
              <a:rPr sz="1200" spc="-105" dirty="0">
                <a:solidFill>
                  <a:srgbClr val="006DC0"/>
                </a:solidFill>
                <a:latin typeface="Verdana"/>
                <a:cs typeface="Verdana"/>
              </a:rPr>
              <a:t> </a:t>
            </a:r>
            <a:r>
              <a:rPr sz="1200" spc="-10" dirty="0">
                <a:solidFill>
                  <a:srgbClr val="006DC0"/>
                </a:solidFill>
                <a:latin typeface="Verdana"/>
                <a:cs typeface="Verdana"/>
              </a:rPr>
              <a:t>Rangarajan</a:t>
            </a:r>
            <a:r>
              <a:rPr sz="1200" spc="70" dirty="0">
                <a:solidFill>
                  <a:srgbClr val="006DC0"/>
                </a:solidFill>
                <a:latin typeface="Verdana"/>
                <a:cs typeface="Verdana"/>
              </a:rPr>
              <a:t> </a:t>
            </a:r>
            <a:r>
              <a:rPr sz="1200" spc="-70" dirty="0">
                <a:solidFill>
                  <a:srgbClr val="006DC0"/>
                </a:solidFill>
                <a:latin typeface="Verdana"/>
                <a:cs typeface="Verdana"/>
              </a:rPr>
              <a:t>Dr.</a:t>
            </a:r>
            <a:r>
              <a:rPr sz="1200" spc="-250" dirty="0">
                <a:solidFill>
                  <a:srgbClr val="006DC0"/>
                </a:solidFill>
                <a:latin typeface="Verdana"/>
                <a:cs typeface="Verdana"/>
              </a:rPr>
              <a:t> </a:t>
            </a:r>
            <a:r>
              <a:rPr sz="1200" spc="-25" dirty="0">
                <a:solidFill>
                  <a:srgbClr val="006DC0"/>
                </a:solidFill>
                <a:latin typeface="Verdana"/>
                <a:cs typeface="Verdana"/>
              </a:rPr>
              <a:t>Sagunthala</a:t>
            </a:r>
            <a:r>
              <a:rPr sz="1200" spc="30" dirty="0">
                <a:solidFill>
                  <a:srgbClr val="006DC0"/>
                </a:solidFill>
                <a:latin typeface="Verdana"/>
                <a:cs typeface="Verdana"/>
              </a:rPr>
              <a:t> </a:t>
            </a:r>
            <a:r>
              <a:rPr sz="1200" spc="-45" dirty="0">
                <a:solidFill>
                  <a:srgbClr val="006DC0"/>
                </a:solidFill>
                <a:latin typeface="Verdana"/>
                <a:cs typeface="Verdana"/>
              </a:rPr>
              <a:t>R&amp;D</a:t>
            </a:r>
            <a:r>
              <a:rPr sz="1200" spc="-150" dirty="0">
                <a:solidFill>
                  <a:srgbClr val="006DC0"/>
                </a:solidFill>
                <a:latin typeface="Verdana"/>
                <a:cs typeface="Verdana"/>
              </a:rPr>
              <a:t> </a:t>
            </a:r>
            <a:r>
              <a:rPr sz="1200" spc="-100" dirty="0">
                <a:solidFill>
                  <a:srgbClr val="006DC0"/>
                </a:solidFill>
                <a:latin typeface="Verdana"/>
                <a:cs typeface="Verdana"/>
              </a:rPr>
              <a:t>Institute</a:t>
            </a:r>
            <a:r>
              <a:rPr sz="1200" spc="-120" dirty="0">
                <a:solidFill>
                  <a:srgbClr val="006DC0"/>
                </a:solidFill>
                <a:latin typeface="Verdana"/>
                <a:cs typeface="Verdana"/>
              </a:rPr>
              <a:t> </a:t>
            </a:r>
            <a:r>
              <a:rPr sz="1200" dirty="0">
                <a:solidFill>
                  <a:srgbClr val="006DC0"/>
                </a:solidFill>
                <a:latin typeface="Verdana"/>
                <a:cs typeface="Verdana"/>
              </a:rPr>
              <a:t>of</a:t>
            </a:r>
            <a:r>
              <a:rPr sz="1200" spc="-80" dirty="0">
                <a:solidFill>
                  <a:srgbClr val="006DC0"/>
                </a:solidFill>
                <a:latin typeface="Verdana"/>
                <a:cs typeface="Verdana"/>
              </a:rPr>
              <a:t> </a:t>
            </a:r>
            <a:r>
              <a:rPr sz="1200" spc="-20" dirty="0">
                <a:solidFill>
                  <a:srgbClr val="006DC0"/>
                </a:solidFill>
                <a:latin typeface="Verdana"/>
                <a:cs typeface="Verdana"/>
              </a:rPr>
              <a:t>Science</a:t>
            </a:r>
            <a:r>
              <a:rPr sz="1200" spc="-70" dirty="0">
                <a:solidFill>
                  <a:srgbClr val="006DC0"/>
                </a:solidFill>
                <a:latin typeface="Verdana"/>
                <a:cs typeface="Verdana"/>
              </a:rPr>
              <a:t> </a:t>
            </a:r>
            <a:r>
              <a:rPr sz="1200" dirty="0">
                <a:solidFill>
                  <a:srgbClr val="006DC0"/>
                </a:solidFill>
                <a:latin typeface="Verdana"/>
                <a:cs typeface="Verdana"/>
              </a:rPr>
              <a:t>and</a:t>
            </a:r>
            <a:r>
              <a:rPr sz="1200" spc="-20" dirty="0">
                <a:solidFill>
                  <a:srgbClr val="006DC0"/>
                </a:solidFill>
                <a:latin typeface="Verdana"/>
                <a:cs typeface="Verdana"/>
              </a:rPr>
              <a:t> </a:t>
            </a:r>
            <a:r>
              <a:rPr sz="1200" spc="-10" dirty="0">
                <a:solidFill>
                  <a:srgbClr val="006DC0"/>
                </a:solidFill>
                <a:latin typeface="Verdana"/>
                <a:cs typeface="Verdana"/>
              </a:rPr>
              <a:t>Technology</a:t>
            </a:r>
            <a:endParaRPr sz="1200">
              <a:latin typeface="Verdana"/>
              <a:cs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92226" rIns="0" bIns="0" rtlCol="0">
            <a:spAutoFit/>
          </a:bodyPr>
          <a:lstStyle/>
          <a:p>
            <a:pPr marL="3743325">
              <a:lnSpc>
                <a:spcPct val="100000"/>
              </a:lnSpc>
              <a:spcBef>
                <a:spcPts val="105"/>
              </a:spcBef>
            </a:pPr>
            <a:r>
              <a:rPr spc="-65" dirty="0"/>
              <a:t>References</a:t>
            </a:r>
          </a:p>
        </p:txBody>
      </p:sp>
      <p:sp>
        <p:nvSpPr>
          <p:cNvPr id="3" name="object 3"/>
          <p:cNvSpPr txBox="1"/>
          <p:nvPr/>
        </p:nvSpPr>
        <p:spPr>
          <a:xfrm>
            <a:off x="814222" y="1507362"/>
            <a:ext cx="9914255" cy="4823756"/>
          </a:xfrm>
          <a:prstGeom prst="rect">
            <a:avLst/>
          </a:prstGeom>
        </p:spPr>
        <p:txBody>
          <a:bodyPr vert="horz" wrap="square" lIns="0" tIns="12065" rIns="0" bIns="0" rtlCol="0">
            <a:spAutoFit/>
          </a:bodyPr>
          <a:lstStyle/>
          <a:p>
            <a:pPr marL="355600" marR="311785" indent="-342900" algn="just">
              <a:lnSpc>
                <a:spcPct val="100000"/>
              </a:lnSpc>
              <a:spcBef>
                <a:spcPts val="95"/>
              </a:spcBef>
              <a:buChar char="•"/>
              <a:tabLst>
                <a:tab pos="355600" algn="l"/>
                <a:tab pos="410209" algn="l"/>
              </a:tabLst>
            </a:pPr>
            <a:r>
              <a:rPr sz="1600" dirty="0">
                <a:latin typeface="Arial MT"/>
                <a:cs typeface="Arial MT"/>
              </a:rPr>
              <a:t>	</a:t>
            </a:r>
            <a:r>
              <a:rPr lang="en-US" spc="-85" dirty="0">
                <a:latin typeface="Verdana"/>
                <a:cs typeface="Verdana"/>
              </a:rPr>
              <a:t>H. Wang, L. Zhang, and Y. Chen “Edge Computing for Bandwidth Reduction in Smart-City Camera Networks”.</a:t>
            </a:r>
          </a:p>
          <a:p>
            <a:pPr marL="355600" marR="311785" indent="-342900" algn="just">
              <a:lnSpc>
                <a:spcPct val="100000"/>
              </a:lnSpc>
              <a:spcBef>
                <a:spcPts val="95"/>
              </a:spcBef>
              <a:buChar char="•"/>
              <a:tabLst>
                <a:tab pos="355600" algn="l"/>
                <a:tab pos="410209" algn="l"/>
              </a:tabLst>
            </a:pPr>
            <a:endParaRPr dirty="0">
              <a:latin typeface="Verdana"/>
              <a:cs typeface="Verdana"/>
            </a:endParaRPr>
          </a:p>
          <a:p>
            <a:pPr marL="354965" indent="-342265" algn="just">
              <a:lnSpc>
                <a:spcPct val="100000"/>
              </a:lnSpc>
              <a:spcBef>
                <a:spcPts val="5"/>
              </a:spcBef>
              <a:buFont typeface="Arial MT"/>
              <a:buChar char="•"/>
              <a:tabLst>
                <a:tab pos="354965" algn="l"/>
              </a:tabLst>
            </a:pPr>
            <a:r>
              <a:rPr lang="en-US" spc="-50" dirty="0">
                <a:latin typeface="Verdana"/>
                <a:cs typeface="Verdana"/>
              </a:rPr>
              <a:t>R. Kumar, S. Patel, and M. </a:t>
            </a:r>
            <a:r>
              <a:rPr lang="en-US" spc="-50" dirty="0" err="1">
                <a:latin typeface="Verdana"/>
                <a:cs typeface="Verdana"/>
              </a:rPr>
              <a:t>Verma,”Real</a:t>
            </a:r>
            <a:r>
              <a:rPr lang="en-US" spc="-50" dirty="0">
                <a:latin typeface="Verdana"/>
                <a:cs typeface="Verdana"/>
              </a:rPr>
              <a:t>-Time Vehicle Counting Using YOLOv5 on Embedded Edge </a:t>
            </a:r>
            <a:r>
              <a:rPr lang="en-US" spc="-50" dirty="0" err="1">
                <a:latin typeface="Verdana"/>
                <a:cs typeface="Verdana"/>
              </a:rPr>
              <a:t>Devices,''</a:t>
            </a:r>
            <a:r>
              <a:rPr spc="-40" dirty="0" err="1">
                <a:latin typeface="Verdana"/>
                <a:cs typeface="Verdana"/>
              </a:rPr>
              <a:t>J</a:t>
            </a:r>
            <a:r>
              <a:rPr spc="-40" dirty="0">
                <a:latin typeface="Verdana"/>
                <a:cs typeface="Verdana"/>
              </a:rPr>
              <a:t>.</a:t>
            </a:r>
            <a:r>
              <a:rPr spc="-155" dirty="0">
                <a:latin typeface="Verdana"/>
                <a:cs typeface="Verdana"/>
              </a:rPr>
              <a:t> </a:t>
            </a:r>
            <a:r>
              <a:rPr spc="-65" dirty="0">
                <a:latin typeface="Verdana"/>
                <a:cs typeface="Verdana"/>
              </a:rPr>
              <a:t>Yick,</a:t>
            </a:r>
            <a:r>
              <a:rPr spc="-150" dirty="0">
                <a:latin typeface="Verdana"/>
                <a:cs typeface="Verdana"/>
              </a:rPr>
              <a:t> </a:t>
            </a:r>
            <a:r>
              <a:rPr spc="-75" dirty="0">
                <a:latin typeface="Verdana"/>
                <a:cs typeface="Verdana"/>
              </a:rPr>
              <a:t>B.</a:t>
            </a:r>
            <a:r>
              <a:rPr spc="-315" dirty="0">
                <a:latin typeface="Verdana"/>
                <a:cs typeface="Verdana"/>
              </a:rPr>
              <a:t> </a:t>
            </a:r>
            <a:r>
              <a:rPr spc="-70" dirty="0">
                <a:latin typeface="Verdana"/>
                <a:cs typeface="Verdana"/>
              </a:rPr>
              <a:t>Mukherjee,</a:t>
            </a:r>
            <a:r>
              <a:rPr spc="-80" dirty="0">
                <a:latin typeface="Verdana"/>
                <a:cs typeface="Verdana"/>
              </a:rPr>
              <a:t> </a:t>
            </a:r>
            <a:r>
              <a:rPr dirty="0">
                <a:latin typeface="Verdana"/>
                <a:cs typeface="Verdana"/>
              </a:rPr>
              <a:t>and</a:t>
            </a:r>
            <a:r>
              <a:rPr spc="35" dirty="0">
                <a:latin typeface="Verdana"/>
                <a:cs typeface="Verdana"/>
              </a:rPr>
              <a:t> </a:t>
            </a:r>
            <a:r>
              <a:rPr spc="-55" dirty="0">
                <a:latin typeface="Verdana"/>
                <a:cs typeface="Verdana"/>
              </a:rPr>
              <a:t>D.</a:t>
            </a:r>
            <a:r>
              <a:rPr spc="-200" dirty="0">
                <a:latin typeface="Verdana"/>
                <a:cs typeface="Verdana"/>
              </a:rPr>
              <a:t> </a:t>
            </a:r>
            <a:r>
              <a:rPr spc="-50" dirty="0">
                <a:latin typeface="Verdana"/>
                <a:cs typeface="Verdana"/>
              </a:rPr>
              <a:t>Ghosal,</a:t>
            </a:r>
            <a:r>
              <a:rPr spc="-45" dirty="0">
                <a:latin typeface="Verdana"/>
                <a:cs typeface="Verdana"/>
              </a:rPr>
              <a:t> </a:t>
            </a:r>
            <a:r>
              <a:rPr spc="-90" dirty="0">
                <a:latin typeface="Verdana"/>
                <a:cs typeface="Verdana"/>
              </a:rPr>
              <a:t>”Wireless</a:t>
            </a:r>
            <a:r>
              <a:rPr spc="-185" dirty="0">
                <a:latin typeface="Verdana"/>
                <a:cs typeface="Verdana"/>
              </a:rPr>
              <a:t> </a:t>
            </a:r>
            <a:r>
              <a:rPr spc="-90" dirty="0">
                <a:latin typeface="Verdana"/>
                <a:cs typeface="Verdana"/>
              </a:rPr>
              <a:t>sensor</a:t>
            </a:r>
            <a:r>
              <a:rPr spc="-229" dirty="0">
                <a:latin typeface="Verdana"/>
                <a:cs typeface="Verdana"/>
              </a:rPr>
              <a:t> </a:t>
            </a:r>
            <a:r>
              <a:rPr spc="-70" dirty="0">
                <a:latin typeface="Verdana"/>
                <a:cs typeface="Verdana"/>
              </a:rPr>
              <a:t>network</a:t>
            </a:r>
            <a:r>
              <a:rPr spc="-50" dirty="0">
                <a:latin typeface="Verdana"/>
                <a:cs typeface="Verdana"/>
              </a:rPr>
              <a:t> </a:t>
            </a:r>
            <a:r>
              <a:rPr spc="-90" dirty="0">
                <a:latin typeface="Verdana"/>
                <a:cs typeface="Verdana"/>
              </a:rPr>
              <a:t>survey,”</a:t>
            </a:r>
            <a:r>
              <a:rPr spc="-254" dirty="0">
                <a:latin typeface="Verdana"/>
                <a:cs typeface="Verdana"/>
              </a:rPr>
              <a:t> </a:t>
            </a:r>
            <a:r>
              <a:rPr spc="-10" dirty="0">
                <a:latin typeface="Verdana"/>
                <a:cs typeface="Verdana"/>
              </a:rPr>
              <a:t>Computer</a:t>
            </a:r>
            <a:r>
              <a:rPr spc="50" dirty="0">
                <a:latin typeface="Verdana"/>
                <a:cs typeface="Verdana"/>
              </a:rPr>
              <a:t> </a:t>
            </a:r>
            <a:r>
              <a:rPr spc="-95" dirty="0">
                <a:latin typeface="Verdana"/>
                <a:cs typeface="Verdana"/>
              </a:rPr>
              <a:t>Networks,</a:t>
            </a:r>
            <a:r>
              <a:rPr spc="-135" dirty="0">
                <a:latin typeface="Verdana"/>
                <a:cs typeface="Verdana"/>
              </a:rPr>
              <a:t> </a:t>
            </a:r>
            <a:r>
              <a:rPr spc="-65" dirty="0">
                <a:latin typeface="Verdana"/>
                <a:cs typeface="Verdana"/>
              </a:rPr>
              <a:t>vol.</a:t>
            </a:r>
            <a:r>
              <a:rPr spc="-210" dirty="0">
                <a:latin typeface="Verdana"/>
                <a:cs typeface="Verdana"/>
              </a:rPr>
              <a:t> </a:t>
            </a:r>
            <a:r>
              <a:rPr spc="-25" dirty="0">
                <a:latin typeface="Verdana"/>
                <a:cs typeface="Verdana"/>
              </a:rPr>
              <a:t>52, </a:t>
            </a:r>
            <a:r>
              <a:rPr spc="-50" dirty="0">
                <a:latin typeface="Verdana"/>
                <a:cs typeface="Verdana"/>
              </a:rPr>
              <a:t>no.</a:t>
            </a:r>
            <a:r>
              <a:rPr spc="-95" dirty="0">
                <a:latin typeface="Verdana"/>
                <a:cs typeface="Verdana"/>
              </a:rPr>
              <a:t> </a:t>
            </a:r>
            <a:r>
              <a:rPr spc="-85" dirty="0">
                <a:latin typeface="Verdana"/>
                <a:cs typeface="Verdana"/>
              </a:rPr>
              <a:t>12,</a:t>
            </a:r>
            <a:r>
              <a:rPr spc="-330" dirty="0">
                <a:latin typeface="Verdana"/>
                <a:cs typeface="Verdana"/>
              </a:rPr>
              <a:t> </a:t>
            </a:r>
            <a:r>
              <a:rPr dirty="0">
                <a:latin typeface="Verdana"/>
                <a:cs typeface="Verdana"/>
              </a:rPr>
              <a:t>pp.</a:t>
            </a:r>
            <a:r>
              <a:rPr spc="30" dirty="0">
                <a:latin typeface="Verdana"/>
                <a:cs typeface="Verdana"/>
              </a:rPr>
              <a:t> </a:t>
            </a:r>
            <a:r>
              <a:rPr spc="-150" dirty="0">
                <a:latin typeface="Verdana"/>
                <a:cs typeface="Verdana"/>
              </a:rPr>
              <a:t>2292–</a:t>
            </a:r>
            <a:r>
              <a:rPr spc="-110" dirty="0">
                <a:latin typeface="Verdana"/>
                <a:cs typeface="Verdana"/>
              </a:rPr>
              <a:t>2330,2008.</a:t>
            </a:r>
            <a:r>
              <a:rPr spc="-340" dirty="0">
                <a:latin typeface="Verdana"/>
                <a:cs typeface="Verdana"/>
              </a:rPr>
              <a:t> </a:t>
            </a:r>
            <a:endParaRPr dirty="0">
              <a:latin typeface="Verdana"/>
              <a:cs typeface="Verdana"/>
            </a:endParaRPr>
          </a:p>
          <a:p>
            <a:pPr algn="just">
              <a:lnSpc>
                <a:spcPct val="100000"/>
              </a:lnSpc>
              <a:spcBef>
                <a:spcPts val="675"/>
              </a:spcBef>
              <a:buFont typeface="Arial MT"/>
              <a:buChar char="•"/>
            </a:pPr>
            <a:endParaRPr dirty="0">
              <a:latin typeface="Verdana"/>
              <a:cs typeface="Verdana"/>
            </a:endParaRPr>
          </a:p>
          <a:p>
            <a:pPr marL="355600" marR="333375" indent="-342900" algn="just">
              <a:lnSpc>
                <a:spcPct val="100000"/>
              </a:lnSpc>
              <a:buFont typeface="Arial MT"/>
              <a:buChar char="•"/>
              <a:tabLst>
                <a:tab pos="355600" algn="l"/>
              </a:tabLst>
            </a:pPr>
            <a:r>
              <a:rPr lang="en-US" spc="-20" dirty="0">
                <a:latin typeface="Verdana"/>
                <a:cs typeface="Verdana"/>
              </a:rPr>
              <a:t>M. Khan and A. Ali,”YOLOv8-Based Vehicle Detection Optimized for Edge </a:t>
            </a:r>
            <a:r>
              <a:rPr lang="en-US" spc="-20" dirty="0" err="1">
                <a:latin typeface="Verdana"/>
                <a:cs typeface="Verdana"/>
              </a:rPr>
              <a:t>Devices,''</a:t>
            </a:r>
            <a:r>
              <a:rPr spc="-70" dirty="0" err="1">
                <a:latin typeface="Verdana"/>
                <a:cs typeface="Verdana"/>
              </a:rPr>
              <a:t>R</a:t>
            </a:r>
            <a:r>
              <a:rPr spc="-70" dirty="0">
                <a:latin typeface="Verdana"/>
                <a:cs typeface="Verdana"/>
              </a:rPr>
              <a:t>.</a:t>
            </a:r>
            <a:r>
              <a:rPr spc="-330" dirty="0">
                <a:latin typeface="Verdana"/>
                <a:cs typeface="Verdana"/>
              </a:rPr>
              <a:t> </a:t>
            </a:r>
            <a:r>
              <a:rPr spc="-65" dirty="0">
                <a:latin typeface="Verdana"/>
                <a:cs typeface="Verdana"/>
              </a:rPr>
              <a:t>K.</a:t>
            </a:r>
            <a:r>
              <a:rPr spc="-315" dirty="0">
                <a:latin typeface="Verdana"/>
                <a:cs typeface="Verdana"/>
              </a:rPr>
              <a:t> </a:t>
            </a:r>
            <a:r>
              <a:rPr spc="-35" dirty="0">
                <a:latin typeface="Verdana"/>
                <a:cs typeface="Verdana"/>
              </a:rPr>
              <a:t>Kodali</a:t>
            </a:r>
            <a:r>
              <a:rPr spc="-105" dirty="0">
                <a:latin typeface="Verdana"/>
                <a:cs typeface="Verdana"/>
              </a:rPr>
              <a:t> </a:t>
            </a:r>
            <a:r>
              <a:rPr dirty="0">
                <a:latin typeface="Verdana"/>
                <a:cs typeface="Verdana"/>
              </a:rPr>
              <a:t>and</a:t>
            </a:r>
            <a:r>
              <a:rPr spc="-10" dirty="0">
                <a:latin typeface="Verdana"/>
                <a:cs typeface="Verdana"/>
              </a:rPr>
              <a:t> </a:t>
            </a:r>
            <a:r>
              <a:rPr spc="-85" dirty="0">
                <a:latin typeface="Verdana"/>
                <a:cs typeface="Verdana"/>
              </a:rPr>
              <a:t>S.</a:t>
            </a:r>
            <a:r>
              <a:rPr spc="-409" dirty="0">
                <a:latin typeface="Verdana"/>
                <a:cs typeface="Verdana"/>
              </a:rPr>
              <a:t> </a:t>
            </a:r>
            <a:r>
              <a:rPr dirty="0">
                <a:latin typeface="Verdana"/>
                <a:cs typeface="Verdana"/>
              </a:rPr>
              <a:t>Mandal,</a:t>
            </a:r>
            <a:r>
              <a:rPr spc="-15" dirty="0">
                <a:latin typeface="Verdana"/>
                <a:cs typeface="Verdana"/>
              </a:rPr>
              <a:t> </a:t>
            </a:r>
            <a:r>
              <a:rPr spc="-95" dirty="0">
                <a:latin typeface="Verdana"/>
                <a:cs typeface="Verdana"/>
              </a:rPr>
              <a:t>”IoT</a:t>
            </a:r>
            <a:r>
              <a:rPr spc="-345" dirty="0">
                <a:latin typeface="Verdana"/>
                <a:cs typeface="Verdana"/>
              </a:rPr>
              <a:t> </a:t>
            </a:r>
            <a:r>
              <a:rPr spc="-10" dirty="0">
                <a:latin typeface="Verdana"/>
                <a:cs typeface="Verdana"/>
              </a:rPr>
              <a:t>based</a:t>
            </a:r>
            <a:r>
              <a:rPr spc="-35" dirty="0">
                <a:latin typeface="Verdana"/>
                <a:cs typeface="Verdana"/>
              </a:rPr>
              <a:t> </a:t>
            </a:r>
            <a:r>
              <a:rPr spc="-60" dirty="0">
                <a:latin typeface="Verdana"/>
                <a:cs typeface="Verdana"/>
              </a:rPr>
              <a:t>environmental</a:t>
            </a:r>
            <a:r>
              <a:rPr spc="-110" dirty="0">
                <a:latin typeface="Verdana"/>
                <a:cs typeface="Verdana"/>
              </a:rPr>
              <a:t> </a:t>
            </a:r>
            <a:r>
              <a:rPr spc="-65" dirty="0">
                <a:latin typeface="Verdana"/>
                <a:cs typeface="Verdana"/>
              </a:rPr>
              <a:t>monitoring</a:t>
            </a:r>
            <a:r>
              <a:rPr spc="-60" dirty="0">
                <a:latin typeface="Verdana"/>
                <a:cs typeface="Verdana"/>
              </a:rPr>
              <a:t> </a:t>
            </a:r>
            <a:r>
              <a:rPr spc="-114" dirty="0">
                <a:latin typeface="Verdana"/>
                <a:cs typeface="Verdana"/>
              </a:rPr>
              <a:t>sys</a:t>
            </a:r>
            <a:r>
              <a:rPr spc="-335" dirty="0">
                <a:latin typeface="Verdana"/>
                <a:cs typeface="Verdana"/>
              </a:rPr>
              <a:t> </a:t>
            </a:r>
            <a:r>
              <a:rPr spc="-60" dirty="0">
                <a:latin typeface="Verdana"/>
                <a:cs typeface="Verdana"/>
              </a:rPr>
              <a:t>tem,”</a:t>
            </a:r>
            <a:r>
              <a:rPr spc="-50" dirty="0">
                <a:latin typeface="Verdana"/>
                <a:cs typeface="Verdana"/>
              </a:rPr>
              <a:t> </a:t>
            </a:r>
            <a:r>
              <a:rPr spc="-45" dirty="0">
                <a:latin typeface="Verdana"/>
                <a:cs typeface="Verdana"/>
              </a:rPr>
              <a:t>in</a:t>
            </a:r>
            <a:r>
              <a:rPr spc="-215" dirty="0">
                <a:latin typeface="Verdana"/>
                <a:cs typeface="Verdana"/>
              </a:rPr>
              <a:t> </a:t>
            </a:r>
            <a:r>
              <a:rPr spc="-25" dirty="0">
                <a:latin typeface="Verdana"/>
                <a:cs typeface="Verdana"/>
              </a:rPr>
              <a:t>Proc.</a:t>
            </a:r>
            <a:r>
              <a:rPr spc="-70" dirty="0">
                <a:latin typeface="Verdana"/>
                <a:cs typeface="Verdana"/>
              </a:rPr>
              <a:t> </a:t>
            </a:r>
            <a:r>
              <a:rPr spc="-85" dirty="0">
                <a:latin typeface="Verdana"/>
                <a:cs typeface="Verdana"/>
              </a:rPr>
              <a:t>2016</a:t>
            </a:r>
            <a:r>
              <a:rPr spc="-375" dirty="0">
                <a:latin typeface="Verdana"/>
                <a:cs typeface="Verdana"/>
              </a:rPr>
              <a:t> </a:t>
            </a:r>
            <a:r>
              <a:rPr spc="-105" dirty="0">
                <a:latin typeface="Verdana"/>
                <a:cs typeface="Verdana"/>
              </a:rPr>
              <a:t>Int.</a:t>
            </a:r>
            <a:r>
              <a:rPr spc="-400" dirty="0">
                <a:latin typeface="Verdana"/>
                <a:cs typeface="Verdana"/>
              </a:rPr>
              <a:t> </a:t>
            </a:r>
            <a:r>
              <a:rPr spc="-10" dirty="0">
                <a:latin typeface="Verdana"/>
                <a:cs typeface="Verdana"/>
              </a:rPr>
              <a:t>Conf. </a:t>
            </a:r>
            <a:r>
              <a:rPr spc="-60" dirty="0">
                <a:latin typeface="Verdana"/>
                <a:cs typeface="Verdana"/>
              </a:rPr>
              <a:t>Control,</a:t>
            </a:r>
            <a:r>
              <a:rPr spc="-85" dirty="0">
                <a:latin typeface="Verdana"/>
                <a:cs typeface="Verdana"/>
              </a:rPr>
              <a:t> </a:t>
            </a:r>
            <a:r>
              <a:rPr spc="-105" dirty="0">
                <a:latin typeface="Verdana"/>
                <a:cs typeface="Verdana"/>
              </a:rPr>
              <a:t>Instrumentation,</a:t>
            </a:r>
            <a:r>
              <a:rPr spc="-120" dirty="0">
                <a:latin typeface="Verdana"/>
                <a:cs typeface="Verdana"/>
              </a:rPr>
              <a:t> </a:t>
            </a:r>
            <a:r>
              <a:rPr spc="-10" dirty="0">
                <a:latin typeface="Verdana"/>
                <a:cs typeface="Verdana"/>
              </a:rPr>
              <a:t>Communication</a:t>
            </a:r>
            <a:r>
              <a:rPr spc="-20" dirty="0">
                <a:latin typeface="Verdana"/>
                <a:cs typeface="Verdana"/>
              </a:rPr>
              <a:t> </a:t>
            </a:r>
            <a:r>
              <a:rPr dirty="0">
                <a:latin typeface="Verdana"/>
                <a:cs typeface="Verdana"/>
              </a:rPr>
              <a:t>and</a:t>
            </a:r>
            <a:r>
              <a:rPr spc="-35" dirty="0">
                <a:latin typeface="Verdana"/>
                <a:cs typeface="Verdana"/>
              </a:rPr>
              <a:t> </a:t>
            </a:r>
            <a:r>
              <a:rPr spc="-10" dirty="0">
                <a:latin typeface="Verdana"/>
                <a:cs typeface="Verdana"/>
              </a:rPr>
              <a:t>Computational</a:t>
            </a:r>
            <a:r>
              <a:rPr spc="5" dirty="0">
                <a:latin typeface="Verdana"/>
                <a:cs typeface="Verdana"/>
              </a:rPr>
              <a:t> </a:t>
            </a:r>
            <a:r>
              <a:rPr spc="-55" dirty="0">
                <a:latin typeface="Verdana"/>
                <a:cs typeface="Verdana"/>
              </a:rPr>
              <a:t>Technologies,</a:t>
            </a:r>
            <a:r>
              <a:rPr spc="-85" dirty="0">
                <a:latin typeface="Verdana"/>
                <a:cs typeface="Verdana"/>
              </a:rPr>
              <a:t> </a:t>
            </a:r>
            <a:r>
              <a:rPr spc="-20" dirty="0">
                <a:latin typeface="Verdana"/>
                <a:cs typeface="Verdana"/>
              </a:rPr>
              <a:t>2016</a:t>
            </a:r>
            <a:r>
              <a:rPr lang="en-IN" spc="-20" dirty="0">
                <a:latin typeface="Verdana"/>
                <a:cs typeface="Verdana"/>
              </a:rPr>
              <a:t>.</a:t>
            </a:r>
          </a:p>
          <a:p>
            <a:pPr marL="355600" marR="333375" indent="-342900" algn="just">
              <a:lnSpc>
                <a:spcPct val="100000"/>
              </a:lnSpc>
              <a:buFont typeface="Arial MT"/>
              <a:buChar char="•"/>
              <a:tabLst>
                <a:tab pos="355600" algn="l"/>
              </a:tabLst>
            </a:pPr>
            <a:endParaRPr lang="en-IN" spc="-20" dirty="0">
              <a:latin typeface="Verdana"/>
              <a:cs typeface="Verdana"/>
            </a:endParaRPr>
          </a:p>
          <a:p>
            <a:pPr marL="355600" marR="333375" indent="-342900" algn="just">
              <a:lnSpc>
                <a:spcPct val="100000"/>
              </a:lnSpc>
              <a:buFont typeface="Arial MT"/>
              <a:buChar char="•"/>
              <a:tabLst>
                <a:tab pos="355600" algn="l"/>
              </a:tabLst>
            </a:pPr>
            <a:r>
              <a:rPr lang="en-US" dirty="0">
                <a:latin typeface="Verdana"/>
                <a:cs typeface="Verdana"/>
              </a:rPr>
              <a:t>R. Patel and S. </a:t>
            </a:r>
            <a:r>
              <a:rPr lang="en-US" dirty="0" err="1">
                <a:latin typeface="Verdana"/>
                <a:cs typeface="Verdana"/>
              </a:rPr>
              <a:t>Verma,”Lightweight</a:t>
            </a:r>
            <a:r>
              <a:rPr lang="en-US" dirty="0">
                <a:latin typeface="Verdana"/>
                <a:cs typeface="Verdana"/>
              </a:rPr>
              <a:t> SQLite-Based Storage for IoT Sensor Networks”.</a:t>
            </a:r>
          </a:p>
          <a:p>
            <a:pPr marL="355600" marR="333375" indent="-342900" algn="just">
              <a:lnSpc>
                <a:spcPct val="100000"/>
              </a:lnSpc>
              <a:buFont typeface="Arial MT"/>
              <a:buChar char="•"/>
              <a:tabLst>
                <a:tab pos="355600" algn="l"/>
              </a:tabLst>
            </a:pPr>
            <a:endParaRPr lang="en-US" dirty="0">
              <a:latin typeface="Verdana"/>
              <a:cs typeface="Verdana"/>
            </a:endParaRPr>
          </a:p>
          <a:p>
            <a:pPr marL="355600" marR="333375" indent="-342900" algn="just">
              <a:lnSpc>
                <a:spcPct val="100000"/>
              </a:lnSpc>
              <a:buFont typeface="Arial MT"/>
              <a:buChar char="•"/>
              <a:tabLst>
                <a:tab pos="355600" algn="l"/>
              </a:tabLst>
            </a:pPr>
            <a:r>
              <a:rPr lang="en-US" dirty="0">
                <a:latin typeface="Verdana"/>
                <a:cs typeface="Verdana"/>
              </a:rPr>
              <a:t>K. </a:t>
            </a:r>
            <a:r>
              <a:rPr lang="en-US" dirty="0" err="1">
                <a:latin typeface="Verdana"/>
                <a:cs typeface="Verdana"/>
              </a:rPr>
              <a:t>Ainebyona</a:t>
            </a:r>
            <a:r>
              <a:rPr lang="en-US" dirty="0">
                <a:latin typeface="Verdana"/>
                <a:cs typeface="Verdana"/>
              </a:rPr>
              <a:t>, J. Mwesigwa, and P. </a:t>
            </a:r>
            <a:r>
              <a:rPr lang="en-US" dirty="0" err="1">
                <a:latin typeface="Verdana"/>
                <a:cs typeface="Verdana"/>
              </a:rPr>
              <a:t>Lubega,”Low</a:t>
            </a:r>
            <a:r>
              <a:rPr lang="en-US" dirty="0">
                <a:latin typeface="Verdana"/>
                <a:cs typeface="Verdana"/>
              </a:rPr>
              <a:t>-Cost Roadside Unit for Edge-Based Traffic Data Collection”.</a:t>
            </a:r>
            <a:endParaRPr dirty="0">
              <a:latin typeface="Verdana"/>
              <a:cs typeface="Verdana"/>
            </a:endParaRPr>
          </a:p>
        </p:txBody>
      </p:sp>
      <p:grpSp>
        <p:nvGrpSpPr>
          <p:cNvPr id="4" name="object 4"/>
          <p:cNvGrpSpPr/>
          <p:nvPr/>
        </p:nvGrpSpPr>
        <p:grpSpPr>
          <a:xfrm>
            <a:off x="-4762" y="-4762"/>
            <a:ext cx="281305" cy="2437130"/>
            <a:chOff x="-4762" y="-4762"/>
            <a:chExt cx="281305" cy="2437130"/>
          </a:xfrm>
        </p:grpSpPr>
        <p:pic>
          <p:nvPicPr>
            <p:cNvPr id="5" name="object 5"/>
            <p:cNvPicPr/>
            <p:nvPr/>
          </p:nvPicPr>
          <p:blipFill>
            <a:blip r:embed="rId2" cstate="print"/>
            <a:stretch>
              <a:fillRect/>
            </a:stretch>
          </p:blipFill>
          <p:spPr>
            <a:xfrm>
              <a:off x="6134" y="12700"/>
              <a:ext cx="269925" cy="2419604"/>
            </a:xfrm>
            <a:prstGeom prst="rect">
              <a:avLst/>
            </a:prstGeom>
          </p:spPr>
        </p:pic>
        <p:pic>
          <p:nvPicPr>
            <p:cNvPr id="6" name="object 6"/>
            <p:cNvPicPr/>
            <p:nvPr/>
          </p:nvPicPr>
          <p:blipFill>
            <a:blip r:embed="rId3" cstate="print"/>
            <a:stretch>
              <a:fillRect/>
            </a:stretch>
          </p:blipFill>
          <p:spPr>
            <a:xfrm>
              <a:off x="0" y="0"/>
              <a:ext cx="242392" cy="2376297"/>
            </a:xfrm>
            <a:prstGeom prst="rect">
              <a:avLst/>
            </a:prstGeom>
          </p:spPr>
        </p:pic>
        <p:sp>
          <p:nvSpPr>
            <p:cNvPr id="7" name="object 7"/>
            <p:cNvSpPr/>
            <p:nvPr/>
          </p:nvSpPr>
          <p:spPr>
            <a:xfrm>
              <a:off x="0" y="0"/>
              <a:ext cx="242570" cy="2376805"/>
            </a:xfrm>
            <a:custGeom>
              <a:avLst/>
              <a:gdLst/>
              <a:ahLst/>
              <a:cxnLst/>
              <a:rect l="l" t="t" r="r" b="b"/>
              <a:pathLst>
                <a:path w="242570" h="2376805">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4473187"/>
            <a:ext cx="285750" cy="2390140"/>
            <a:chOff x="11149456" y="4473187"/>
            <a:chExt cx="285750" cy="2390140"/>
          </a:xfrm>
        </p:grpSpPr>
        <p:pic>
          <p:nvPicPr>
            <p:cNvPr id="9" name="object 9"/>
            <p:cNvPicPr/>
            <p:nvPr/>
          </p:nvPicPr>
          <p:blipFill>
            <a:blip r:embed="rId4" cstate="print"/>
            <a:stretch>
              <a:fillRect/>
            </a:stretch>
          </p:blipFill>
          <p:spPr>
            <a:xfrm>
              <a:off x="11149456" y="4473187"/>
              <a:ext cx="280504" cy="2384806"/>
            </a:xfrm>
            <a:prstGeom prst="rect">
              <a:avLst/>
            </a:prstGeom>
          </p:spPr>
        </p:pic>
        <p:pic>
          <p:nvPicPr>
            <p:cNvPr id="10" name="object 10"/>
            <p:cNvPicPr/>
            <p:nvPr/>
          </p:nvPicPr>
          <p:blipFill>
            <a:blip r:embed="rId5" cstate="print"/>
            <a:stretch>
              <a:fillRect/>
            </a:stretch>
          </p:blipFill>
          <p:spPr>
            <a:xfrm>
              <a:off x="11187429" y="4481699"/>
              <a:ext cx="242392" cy="2376296"/>
            </a:xfrm>
            <a:prstGeom prst="rect">
              <a:avLst/>
            </a:prstGeom>
          </p:spPr>
        </p:pic>
        <p:sp>
          <p:nvSpPr>
            <p:cNvPr id="11" name="object 11"/>
            <p:cNvSpPr/>
            <p:nvPr/>
          </p:nvSpPr>
          <p:spPr>
            <a:xfrm>
              <a:off x="11187429" y="4481703"/>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10589514" y="6431991"/>
            <a:ext cx="214629"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68686"/>
                </a:solidFill>
                <a:latin typeface="Verdana"/>
                <a:cs typeface="Verdana"/>
              </a:rPr>
              <a:t>17</a:t>
            </a:r>
            <a:endParaRPr sz="1200">
              <a:latin typeface="Verdana"/>
              <a:cs typeface="Verdana"/>
            </a:endParaRPr>
          </a:p>
        </p:txBody>
      </p:sp>
      <p:sp>
        <p:nvSpPr>
          <p:cNvPr id="13" name="object 13"/>
          <p:cNvSpPr txBox="1"/>
          <p:nvPr/>
        </p:nvSpPr>
        <p:spPr>
          <a:xfrm>
            <a:off x="2827401" y="6535318"/>
            <a:ext cx="569912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006DC0"/>
                </a:solidFill>
                <a:latin typeface="Verdana"/>
                <a:cs typeface="Verdana"/>
              </a:rPr>
              <a:t>Vel</a:t>
            </a:r>
            <a:r>
              <a:rPr sz="1200" spc="-105" dirty="0">
                <a:solidFill>
                  <a:srgbClr val="006DC0"/>
                </a:solidFill>
                <a:latin typeface="Verdana"/>
                <a:cs typeface="Verdana"/>
              </a:rPr>
              <a:t> </a:t>
            </a:r>
            <a:r>
              <a:rPr sz="1200" spc="-20" dirty="0">
                <a:solidFill>
                  <a:srgbClr val="006DC0"/>
                </a:solidFill>
                <a:latin typeface="Verdana"/>
                <a:cs typeface="Verdana"/>
              </a:rPr>
              <a:t>Tech</a:t>
            </a:r>
            <a:r>
              <a:rPr sz="1200" spc="-105" dirty="0">
                <a:solidFill>
                  <a:srgbClr val="006DC0"/>
                </a:solidFill>
                <a:latin typeface="Verdana"/>
                <a:cs typeface="Verdana"/>
              </a:rPr>
              <a:t> </a:t>
            </a:r>
            <a:r>
              <a:rPr sz="1200" spc="-10" dirty="0">
                <a:solidFill>
                  <a:srgbClr val="006DC0"/>
                </a:solidFill>
                <a:latin typeface="Verdana"/>
                <a:cs typeface="Verdana"/>
              </a:rPr>
              <a:t>Rangarajan</a:t>
            </a:r>
            <a:r>
              <a:rPr sz="1200" spc="70" dirty="0">
                <a:solidFill>
                  <a:srgbClr val="006DC0"/>
                </a:solidFill>
                <a:latin typeface="Verdana"/>
                <a:cs typeface="Verdana"/>
              </a:rPr>
              <a:t> </a:t>
            </a:r>
            <a:r>
              <a:rPr sz="1200" spc="-70" dirty="0">
                <a:solidFill>
                  <a:srgbClr val="006DC0"/>
                </a:solidFill>
                <a:latin typeface="Verdana"/>
                <a:cs typeface="Verdana"/>
              </a:rPr>
              <a:t>Dr.</a:t>
            </a:r>
            <a:r>
              <a:rPr sz="1200" spc="-250" dirty="0">
                <a:solidFill>
                  <a:srgbClr val="006DC0"/>
                </a:solidFill>
                <a:latin typeface="Verdana"/>
                <a:cs typeface="Verdana"/>
              </a:rPr>
              <a:t> </a:t>
            </a:r>
            <a:r>
              <a:rPr sz="1200" spc="-25" dirty="0">
                <a:solidFill>
                  <a:srgbClr val="006DC0"/>
                </a:solidFill>
                <a:latin typeface="Verdana"/>
                <a:cs typeface="Verdana"/>
              </a:rPr>
              <a:t>Sagunthala</a:t>
            </a:r>
            <a:r>
              <a:rPr sz="1200" spc="30" dirty="0">
                <a:solidFill>
                  <a:srgbClr val="006DC0"/>
                </a:solidFill>
                <a:latin typeface="Verdana"/>
                <a:cs typeface="Verdana"/>
              </a:rPr>
              <a:t> </a:t>
            </a:r>
            <a:r>
              <a:rPr sz="1200" spc="-45" dirty="0">
                <a:solidFill>
                  <a:srgbClr val="006DC0"/>
                </a:solidFill>
                <a:latin typeface="Verdana"/>
                <a:cs typeface="Verdana"/>
              </a:rPr>
              <a:t>R&amp;D</a:t>
            </a:r>
            <a:r>
              <a:rPr sz="1200" spc="-150" dirty="0">
                <a:solidFill>
                  <a:srgbClr val="006DC0"/>
                </a:solidFill>
                <a:latin typeface="Verdana"/>
                <a:cs typeface="Verdana"/>
              </a:rPr>
              <a:t> </a:t>
            </a:r>
            <a:r>
              <a:rPr sz="1200" spc="-100" dirty="0">
                <a:solidFill>
                  <a:srgbClr val="006DC0"/>
                </a:solidFill>
                <a:latin typeface="Verdana"/>
                <a:cs typeface="Verdana"/>
              </a:rPr>
              <a:t>Institute</a:t>
            </a:r>
            <a:r>
              <a:rPr sz="1200" spc="-120" dirty="0">
                <a:solidFill>
                  <a:srgbClr val="006DC0"/>
                </a:solidFill>
                <a:latin typeface="Verdana"/>
                <a:cs typeface="Verdana"/>
              </a:rPr>
              <a:t> </a:t>
            </a:r>
            <a:r>
              <a:rPr sz="1200" dirty="0">
                <a:solidFill>
                  <a:srgbClr val="006DC0"/>
                </a:solidFill>
                <a:latin typeface="Verdana"/>
                <a:cs typeface="Verdana"/>
              </a:rPr>
              <a:t>of</a:t>
            </a:r>
            <a:r>
              <a:rPr sz="1200" spc="-80" dirty="0">
                <a:solidFill>
                  <a:srgbClr val="006DC0"/>
                </a:solidFill>
                <a:latin typeface="Verdana"/>
                <a:cs typeface="Verdana"/>
              </a:rPr>
              <a:t> </a:t>
            </a:r>
            <a:r>
              <a:rPr sz="1200" spc="-20" dirty="0">
                <a:solidFill>
                  <a:srgbClr val="006DC0"/>
                </a:solidFill>
                <a:latin typeface="Verdana"/>
                <a:cs typeface="Verdana"/>
              </a:rPr>
              <a:t>Science</a:t>
            </a:r>
            <a:r>
              <a:rPr sz="1200" spc="-70" dirty="0">
                <a:solidFill>
                  <a:srgbClr val="006DC0"/>
                </a:solidFill>
                <a:latin typeface="Verdana"/>
                <a:cs typeface="Verdana"/>
              </a:rPr>
              <a:t> </a:t>
            </a:r>
            <a:r>
              <a:rPr sz="1200" dirty="0">
                <a:solidFill>
                  <a:srgbClr val="006DC0"/>
                </a:solidFill>
                <a:latin typeface="Verdana"/>
                <a:cs typeface="Verdana"/>
              </a:rPr>
              <a:t>and</a:t>
            </a:r>
            <a:r>
              <a:rPr sz="1200" spc="-20" dirty="0">
                <a:solidFill>
                  <a:srgbClr val="006DC0"/>
                </a:solidFill>
                <a:latin typeface="Verdana"/>
                <a:cs typeface="Verdana"/>
              </a:rPr>
              <a:t> </a:t>
            </a:r>
            <a:r>
              <a:rPr sz="1200" spc="-10" dirty="0">
                <a:solidFill>
                  <a:srgbClr val="006DC0"/>
                </a:solidFill>
                <a:latin typeface="Verdana"/>
                <a:cs typeface="Verdana"/>
              </a:rPr>
              <a:t>Technology</a:t>
            </a:r>
            <a:endParaRPr sz="1200">
              <a:latin typeface="Verdana"/>
              <a:cs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26643" rIns="0" bIns="0" rtlCol="0">
            <a:spAutoFit/>
          </a:bodyPr>
          <a:lstStyle/>
          <a:p>
            <a:pPr marL="3220720">
              <a:lnSpc>
                <a:spcPct val="100000"/>
              </a:lnSpc>
              <a:spcBef>
                <a:spcPts val="105"/>
              </a:spcBef>
            </a:pPr>
            <a:r>
              <a:rPr spc="-10" dirty="0"/>
              <a:t>Reference</a:t>
            </a:r>
          </a:p>
        </p:txBody>
      </p:sp>
      <p:sp>
        <p:nvSpPr>
          <p:cNvPr id="3" name="object 3"/>
          <p:cNvSpPr txBox="1">
            <a:spLocks noGrp="1"/>
          </p:cNvSpPr>
          <p:nvPr>
            <p:ph type="body" idx="1"/>
          </p:nvPr>
        </p:nvSpPr>
        <p:spPr>
          <a:xfrm>
            <a:off x="723900" y="1905000"/>
            <a:ext cx="9982200" cy="4193456"/>
          </a:xfrm>
          <a:prstGeom prst="rect">
            <a:avLst/>
          </a:prstGeom>
        </p:spPr>
        <p:txBody>
          <a:bodyPr vert="horz" wrap="square" lIns="0" tIns="12700" rIns="0" bIns="0" rtlCol="0">
            <a:spAutoFit/>
          </a:bodyPr>
          <a:lstStyle/>
          <a:p>
            <a:pPr marL="42545" marR="77470" indent="-10160" algn="just">
              <a:lnSpc>
                <a:spcPct val="100000"/>
              </a:lnSpc>
              <a:spcBef>
                <a:spcPts val="100"/>
              </a:spcBef>
              <a:buSzPct val="94444"/>
              <a:buChar char="•"/>
              <a:tabLst>
                <a:tab pos="121285" algn="l"/>
              </a:tabLst>
            </a:pPr>
            <a:r>
              <a:rPr dirty="0"/>
              <a:t>	</a:t>
            </a:r>
            <a:r>
              <a:rPr lang="en-US" dirty="0"/>
              <a:t>P. Sharma and R. </a:t>
            </a:r>
            <a:r>
              <a:rPr lang="en-US" dirty="0" err="1"/>
              <a:t>Gupta,”Threshold</a:t>
            </a:r>
            <a:r>
              <a:rPr lang="en-US" dirty="0"/>
              <a:t>-Based Congestion Classification for Adaptive Traffic Control”.</a:t>
            </a:r>
          </a:p>
          <a:p>
            <a:pPr marL="42545" marR="77470" indent="-10160" algn="just">
              <a:lnSpc>
                <a:spcPct val="100000"/>
              </a:lnSpc>
              <a:spcBef>
                <a:spcPts val="100"/>
              </a:spcBef>
              <a:buSzPct val="94444"/>
              <a:buChar char="•"/>
              <a:tabLst>
                <a:tab pos="121285" algn="l"/>
              </a:tabLst>
            </a:pPr>
            <a:endParaRPr spc="-10" dirty="0"/>
          </a:p>
          <a:p>
            <a:pPr marL="42545" marR="184150" indent="-10160" algn="just">
              <a:lnSpc>
                <a:spcPct val="100000"/>
              </a:lnSpc>
              <a:buSzPct val="94444"/>
              <a:buChar char="•"/>
              <a:tabLst>
                <a:tab pos="121285" algn="l"/>
              </a:tabLst>
            </a:pPr>
            <a:r>
              <a:rPr dirty="0"/>
              <a:t>	A.</a:t>
            </a:r>
            <a:r>
              <a:rPr spc="-30" dirty="0"/>
              <a:t> </a:t>
            </a:r>
            <a:r>
              <a:rPr dirty="0"/>
              <a:t>Gubbi,</a:t>
            </a:r>
            <a:r>
              <a:rPr spc="-10" dirty="0"/>
              <a:t> </a:t>
            </a:r>
            <a:r>
              <a:rPr dirty="0"/>
              <a:t>R.</a:t>
            </a:r>
            <a:r>
              <a:rPr spc="-30" dirty="0"/>
              <a:t> </a:t>
            </a:r>
            <a:r>
              <a:rPr dirty="0"/>
              <a:t>Buyya,</a:t>
            </a:r>
            <a:r>
              <a:rPr spc="20" dirty="0"/>
              <a:t> </a:t>
            </a:r>
            <a:r>
              <a:rPr dirty="0"/>
              <a:t>S.</a:t>
            </a:r>
            <a:r>
              <a:rPr spc="-20" dirty="0"/>
              <a:t> </a:t>
            </a:r>
            <a:r>
              <a:rPr dirty="0"/>
              <a:t>Marusic,</a:t>
            </a:r>
            <a:r>
              <a:rPr spc="-25" dirty="0"/>
              <a:t> </a:t>
            </a:r>
            <a:r>
              <a:rPr dirty="0"/>
              <a:t>and</a:t>
            </a:r>
            <a:r>
              <a:rPr spc="-20" dirty="0"/>
              <a:t> </a:t>
            </a:r>
            <a:r>
              <a:rPr dirty="0"/>
              <a:t>M.</a:t>
            </a:r>
            <a:r>
              <a:rPr spc="-20" dirty="0"/>
              <a:t> </a:t>
            </a:r>
            <a:r>
              <a:rPr dirty="0"/>
              <a:t>Palaniswami,</a:t>
            </a:r>
            <a:r>
              <a:rPr spc="20" dirty="0"/>
              <a:t> </a:t>
            </a:r>
            <a:r>
              <a:rPr dirty="0"/>
              <a:t>“Internet</a:t>
            </a:r>
            <a:r>
              <a:rPr spc="-25" dirty="0"/>
              <a:t> </a:t>
            </a:r>
            <a:r>
              <a:rPr dirty="0"/>
              <a:t>of</a:t>
            </a:r>
            <a:r>
              <a:rPr spc="-25" dirty="0"/>
              <a:t> </a:t>
            </a:r>
            <a:r>
              <a:rPr dirty="0"/>
              <a:t>Things</a:t>
            </a:r>
            <a:r>
              <a:rPr spc="-30" dirty="0"/>
              <a:t> </a:t>
            </a:r>
            <a:r>
              <a:rPr dirty="0"/>
              <a:t>(IoT):</a:t>
            </a:r>
            <a:r>
              <a:rPr spc="-45" dirty="0"/>
              <a:t> </a:t>
            </a:r>
            <a:r>
              <a:rPr dirty="0"/>
              <a:t>A</a:t>
            </a:r>
            <a:r>
              <a:rPr spc="-25" dirty="0"/>
              <a:t> </a:t>
            </a:r>
            <a:r>
              <a:rPr dirty="0"/>
              <a:t>vision,</a:t>
            </a:r>
            <a:r>
              <a:rPr spc="-15" dirty="0"/>
              <a:t> </a:t>
            </a:r>
            <a:r>
              <a:rPr spc="-10" dirty="0"/>
              <a:t>architectural </a:t>
            </a:r>
            <a:r>
              <a:rPr dirty="0"/>
              <a:t>elements,</a:t>
            </a:r>
            <a:r>
              <a:rPr spc="-30" dirty="0"/>
              <a:t> </a:t>
            </a:r>
            <a:r>
              <a:rPr dirty="0"/>
              <a:t>and</a:t>
            </a:r>
            <a:r>
              <a:rPr spc="-40" dirty="0"/>
              <a:t> </a:t>
            </a:r>
            <a:r>
              <a:rPr dirty="0"/>
              <a:t>future</a:t>
            </a:r>
            <a:r>
              <a:rPr spc="-40" dirty="0"/>
              <a:t> </a:t>
            </a:r>
            <a:r>
              <a:rPr dirty="0"/>
              <a:t>directions,”</a:t>
            </a:r>
            <a:r>
              <a:rPr spc="-15" dirty="0"/>
              <a:t> </a:t>
            </a:r>
            <a:r>
              <a:rPr i="1" dirty="0">
                <a:latin typeface="Arial"/>
                <a:cs typeface="Arial"/>
              </a:rPr>
              <a:t>Future</a:t>
            </a:r>
            <a:r>
              <a:rPr i="1" spc="-40" dirty="0">
                <a:latin typeface="Arial"/>
                <a:cs typeface="Arial"/>
              </a:rPr>
              <a:t> </a:t>
            </a:r>
            <a:r>
              <a:rPr i="1" dirty="0">
                <a:latin typeface="Arial"/>
                <a:cs typeface="Arial"/>
              </a:rPr>
              <a:t>Generation</a:t>
            </a:r>
            <a:r>
              <a:rPr i="1" spc="-15" dirty="0">
                <a:latin typeface="Arial"/>
                <a:cs typeface="Arial"/>
              </a:rPr>
              <a:t> </a:t>
            </a:r>
            <a:r>
              <a:rPr i="1" dirty="0">
                <a:latin typeface="Arial"/>
                <a:cs typeface="Arial"/>
              </a:rPr>
              <a:t>Computer</a:t>
            </a:r>
            <a:r>
              <a:rPr i="1" spc="-15" dirty="0">
                <a:latin typeface="Arial"/>
                <a:cs typeface="Arial"/>
              </a:rPr>
              <a:t> </a:t>
            </a:r>
            <a:r>
              <a:rPr i="1" dirty="0">
                <a:latin typeface="Arial"/>
                <a:cs typeface="Arial"/>
              </a:rPr>
              <a:t>Systems</a:t>
            </a:r>
            <a:r>
              <a:rPr dirty="0"/>
              <a:t>,</a:t>
            </a:r>
            <a:r>
              <a:rPr spc="-35" dirty="0"/>
              <a:t> </a:t>
            </a:r>
            <a:r>
              <a:rPr dirty="0"/>
              <a:t>vol.</a:t>
            </a:r>
            <a:r>
              <a:rPr spc="-30" dirty="0"/>
              <a:t> </a:t>
            </a:r>
            <a:r>
              <a:rPr dirty="0"/>
              <a:t>29,</a:t>
            </a:r>
            <a:r>
              <a:rPr spc="-35" dirty="0"/>
              <a:t> </a:t>
            </a:r>
            <a:r>
              <a:rPr dirty="0"/>
              <a:t>no.</a:t>
            </a:r>
            <a:r>
              <a:rPr spc="-30" dirty="0"/>
              <a:t> </a:t>
            </a:r>
            <a:r>
              <a:rPr dirty="0"/>
              <a:t>7,</a:t>
            </a:r>
            <a:r>
              <a:rPr spc="-35" dirty="0"/>
              <a:t> </a:t>
            </a:r>
            <a:r>
              <a:rPr dirty="0"/>
              <a:t>pp.</a:t>
            </a:r>
            <a:r>
              <a:rPr spc="-30" dirty="0"/>
              <a:t> </a:t>
            </a:r>
            <a:r>
              <a:rPr spc="-10" dirty="0"/>
              <a:t>1645–1660, </a:t>
            </a:r>
            <a:r>
              <a:rPr dirty="0"/>
              <a:t>Sep.</a:t>
            </a:r>
            <a:r>
              <a:rPr spc="-15" dirty="0"/>
              <a:t> </a:t>
            </a:r>
            <a:r>
              <a:rPr spc="-20" dirty="0"/>
              <a:t>2013.</a:t>
            </a:r>
            <a:endParaRPr lang="en-IN" spc="-20" dirty="0"/>
          </a:p>
          <a:p>
            <a:pPr marL="42545" marR="184150" indent="-10160" algn="just">
              <a:lnSpc>
                <a:spcPct val="100000"/>
              </a:lnSpc>
              <a:buSzPct val="94444"/>
              <a:buChar char="•"/>
              <a:tabLst>
                <a:tab pos="121285" algn="l"/>
              </a:tabLst>
            </a:pPr>
            <a:endParaRPr spc="-20" dirty="0"/>
          </a:p>
          <a:p>
            <a:pPr marL="42545" marR="5080" indent="-10160" algn="just">
              <a:lnSpc>
                <a:spcPct val="100000"/>
              </a:lnSpc>
              <a:buSzPct val="94444"/>
              <a:buChar char="•"/>
              <a:tabLst>
                <a:tab pos="121285" algn="l"/>
              </a:tabLst>
            </a:pPr>
            <a:r>
              <a:rPr dirty="0"/>
              <a:t>	N.</a:t>
            </a:r>
            <a:r>
              <a:rPr spc="-20" dirty="0"/>
              <a:t> </a:t>
            </a:r>
            <a:r>
              <a:rPr dirty="0"/>
              <a:t>Kumar,</a:t>
            </a:r>
            <a:r>
              <a:rPr spc="-15" dirty="0"/>
              <a:t> </a:t>
            </a:r>
            <a:r>
              <a:rPr dirty="0"/>
              <a:t>N.</a:t>
            </a:r>
            <a:r>
              <a:rPr spc="-25" dirty="0"/>
              <a:t> </a:t>
            </a:r>
            <a:r>
              <a:rPr dirty="0"/>
              <a:t>Chilamkurti,</a:t>
            </a:r>
            <a:r>
              <a:rPr spc="5" dirty="0"/>
              <a:t> </a:t>
            </a:r>
            <a:r>
              <a:rPr dirty="0"/>
              <a:t>and</a:t>
            </a:r>
            <a:r>
              <a:rPr spc="-20" dirty="0"/>
              <a:t> </a:t>
            </a:r>
            <a:r>
              <a:rPr dirty="0"/>
              <a:t>J.</a:t>
            </a:r>
            <a:r>
              <a:rPr spc="-15" dirty="0"/>
              <a:t> </a:t>
            </a:r>
            <a:r>
              <a:rPr dirty="0"/>
              <a:t>H.</a:t>
            </a:r>
            <a:r>
              <a:rPr spc="-30" dirty="0"/>
              <a:t> </a:t>
            </a:r>
            <a:r>
              <a:rPr dirty="0"/>
              <a:t>Park,</a:t>
            </a:r>
            <a:r>
              <a:rPr spc="-15" dirty="0"/>
              <a:t> </a:t>
            </a:r>
            <a:r>
              <a:rPr dirty="0"/>
              <a:t>“ALCA:</a:t>
            </a:r>
            <a:r>
              <a:rPr spc="-15" dirty="0"/>
              <a:t> </a:t>
            </a:r>
            <a:r>
              <a:rPr dirty="0"/>
              <a:t>Agent</a:t>
            </a:r>
            <a:r>
              <a:rPr spc="-15" dirty="0"/>
              <a:t> </a:t>
            </a:r>
            <a:r>
              <a:rPr spc="-10" dirty="0"/>
              <a:t>learning-</a:t>
            </a:r>
            <a:r>
              <a:rPr dirty="0"/>
              <a:t>based</a:t>
            </a:r>
            <a:r>
              <a:rPr spc="25" dirty="0"/>
              <a:t> </a:t>
            </a:r>
            <a:r>
              <a:rPr dirty="0"/>
              <a:t>clustering</a:t>
            </a:r>
            <a:r>
              <a:rPr spc="-10" dirty="0"/>
              <a:t> </a:t>
            </a:r>
            <a:r>
              <a:rPr dirty="0"/>
              <a:t>algorithm</a:t>
            </a:r>
            <a:r>
              <a:rPr spc="-10" dirty="0"/>
              <a:t> </a:t>
            </a:r>
            <a:r>
              <a:rPr dirty="0"/>
              <a:t>in</a:t>
            </a:r>
            <a:r>
              <a:rPr spc="-5" dirty="0"/>
              <a:t> </a:t>
            </a:r>
            <a:r>
              <a:rPr spc="-10" dirty="0"/>
              <a:t>wireless </a:t>
            </a:r>
            <a:r>
              <a:rPr dirty="0"/>
              <a:t>sensor</a:t>
            </a:r>
            <a:r>
              <a:rPr spc="-20" dirty="0"/>
              <a:t> </a:t>
            </a:r>
            <a:r>
              <a:rPr dirty="0"/>
              <a:t>networks,”</a:t>
            </a:r>
            <a:r>
              <a:rPr spc="20" dirty="0"/>
              <a:t> </a:t>
            </a:r>
            <a:r>
              <a:rPr i="1" dirty="0">
                <a:latin typeface="Arial"/>
                <a:cs typeface="Arial"/>
              </a:rPr>
              <a:t>Journal</a:t>
            </a:r>
            <a:r>
              <a:rPr i="1" spc="-15" dirty="0">
                <a:latin typeface="Arial"/>
                <a:cs typeface="Arial"/>
              </a:rPr>
              <a:t> </a:t>
            </a:r>
            <a:r>
              <a:rPr i="1" dirty="0">
                <a:latin typeface="Arial"/>
                <a:cs typeface="Arial"/>
              </a:rPr>
              <a:t>of</a:t>
            </a:r>
            <a:r>
              <a:rPr i="1" spc="-20" dirty="0">
                <a:latin typeface="Arial"/>
                <a:cs typeface="Arial"/>
              </a:rPr>
              <a:t> </a:t>
            </a:r>
            <a:r>
              <a:rPr i="1" dirty="0">
                <a:latin typeface="Arial"/>
                <a:cs typeface="Arial"/>
              </a:rPr>
              <a:t>Computer</a:t>
            </a:r>
            <a:r>
              <a:rPr i="1" spc="5" dirty="0">
                <a:latin typeface="Arial"/>
                <a:cs typeface="Arial"/>
              </a:rPr>
              <a:t> </a:t>
            </a:r>
            <a:r>
              <a:rPr i="1" dirty="0">
                <a:latin typeface="Arial"/>
                <a:cs typeface="Arial"/>
              </a:rPr>
              <a:t>and</a:t>
            </a:r>
            <a:r>
              <a:rPr i="1" spc="-20" dirty="0">
                <a:latin typeface="Arial"/>
                <a:cs typeface="Arial"/>
              </a:rPr>
              <a:t> </a:t>
            </a:r>
            <a:r>
              <a:rPr i="1" dirty="0">
                <a:latin typeface="Arial"/>
                <a:cs typeface="Arial"/>
              </a:rPr>
              <a:t>System</a:t>
            </a:r>
            <a:r>
              <a:rPr i="1" spc="-35" dirty="0">
                <a:latin typeface="Arial"/>
                <a:cs typeface="Arial"/>
              </a:rPr>
              <a:t> </a:t>
            </a:r>
            <a:r>
              <a:rPr i="1" dirty="0">
                <a:latin typeface="Arial"/>
                <a:cs typeface="Arial"/>
              </a:rPr>
              <a:t>Sciences</a:t>
            </a:r>
            <a:r>
              <a:rPr dirty="0"/>
              <a:t>,</a:t>
            </a:r>
            <a:r>
              <a:rPr spc="-5" dirty="0"/>
              <a:t> </a:t>
            </a:r>
            <a:r>
              <a:rPr dirty="0"/>
              <a:t>vol.</a:t>
            </a:r>
            <a:r>
              <a:rPr spc="-15" dirty="0"/>
              <a:t> </a:t>
            </a:r>
            <a:r>
              <a:rPr dirty="0"/>
              <a:t>79,</a:t>
            </a:r>
            <a:r>
              <a:rPr spc="-20" dirty="0"/>
              <a:t> </a:t>
            </a:r>
            <a:r>
              <a:rPr dirty="0"/>
              <a:t>no.</a:t>
            </a:r>
            <a:r>
              <a:rPr spc="-15" dirty="0"/>
              <a:t> </a:t>
            </a:r>
            <a:r>
              <a:rPr dirty="0"/>
              <a:t>7,</a:t>
            </a:r>
            <a:r>
              <a:rPr spc="-20" dirty="0"/>
              <a:t> </a:t>
            </a:r>
            <a:r>
              <a:rPr dirty="0"/>
              <a:t>pp.</a:t>
            </a:r>
            <a:r>
              <a:rPr spc="-20" dirty="0"/>
              <a:t> </a:t>
            </a:r>
            <a:r>
              <a:rPr spc="-10" dirty="0"/>
              <a:t>1040–</a:t>
            </a:r>
            <a:r>
              <a:rPr dirty="0"/>
              <a:t>1055,</a:t>
            </a:r>
            <a:r>
              <a:rPr spc="5" dirty="0"/>
              <a:t> </a:t>
            </a:r>
            <a:r>
              <a:rPr dirty="0"/>
              <a:t>Nov.</a:t>
            </a:r>
            <a:r>
              <a:rPr spc="-15" dirty="0"/>
              <a:t> </a:t>
            </a:r>
            <a:r>
              <a:rPr spc="-10" dirty="0"/>
              <a:t>2013.</a:t>
            </a:r>
          </a:p>
          <a:p>
            <a:pPr marL="29845" algn="just">
              <a:lnSpc>
                <a:spcPct val="100000"/>
              </a:lnSpc>
              <a:spcBef>
                <a:spcPts val="90"/>
              </a:spcBef>
              <a:buFont typeface="Arial MT"/>
              <a:buChar char="•"/>
            </a:pPr>
            <a:endParaRPr spc="-10" dirty="0"/>
          </a:p>
          <a:p>
            <a:pPr marL="42545" marR="113664" indent="-10160" algn="just">
              <a:lnSpc>
                <a:spcPct val="100000"/>
              </a:lnSpc>
              <a:buSzPct val="94444"/>
              <a:buChar char="•"/>
              <a:tabLst>
                <a:tab pos="121285" algn="l"/>
              </a:tabLst>
            </a:pPr>
            <a:r>
              <a:rPr dirty="0"/>
              <a:t>	</a:t>
            </a:r>
            <a:r>
              <a:rPr lang="en-US" dirty="0"/>
              <a:t>H. Xin, F. Liu, and G. </a:t>
            </a:r>
            <a:r>
              <a:rPr lang="en-US" dirty="0" err="1"/>
              <a:t>Wang,”Real</a:t>
            </a:r>
            <a:r>
              <a:rPr lang="en-US" dirty="0"/>
              <a:t>-Time Vehicle Tracking Using OpenCV Background Subtraction”.</a:t>
            </a:r>
          </a:p>
          <a:p>
            <a:pPr marL="42545" marR="113664" indent="-10160" algn="just">
              <a:lnSpc>
                <a:spcPct val="100000"/>
              </a:lnSpc>
              <a:buSzPct val="94444"/>
              <a:buChar char="•"/>
              <a:tabLst>
                <a:tab pos="121285" algn="l"/>
              </a:tabLst>
            </a:pPr>
            <a:endParaRPr lang="en-US" dirty="0"/>
          </a:p>
          <a:p>
            <a:pPr marL="42545" marR="113664" indent="-10160" algn="just">
              <a:lnSpc>
                <a:spcPct val="100000"/>
              </a:lnSpc>
              <a:buSzPct val="94444"/>
              <a:buChar char="•"/>
              <a:tabLst>
                <a:tab pos="121285" algn="l"/>
              </a:tabLst>
            </a:pPr>
            <a:r>
              <a:rPr lang="en-US" spc="-10" dirty="0"/>
              <a:t>S. Vemula and M. Moraes,”</a:t>
            </a:r>
            <a:r>
              <a:rPr lang="en-US" spc="-10" dirty="0" err="1"/>
              <a:t>Streamlit</a:t>
            </a:r>
            <a:r>
              <a:rPr lang="en-US" spc="-10" dirty="0"/>
              <a:t>-Based Dashboards for Real-Time IoT Visualization‘’.</a:t>
            </a:r>
            <a:endParaRPr spc="-1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38"/>
            <a:ext cx="386715" cy="476884"/>
          </a:xfrm>
          <a:custGeom>
            <a:avLst/>
            <a:gdLst/>
            <a:ahLst/>
            <a:cxnLst/>
            <a:rect l="l" t="t" r="r" b="b"/>
            <a:pathLst>
              <a:path w="386715" h="476884">
                <a:moveTo>
                  <a:pt x="386410" y="0"/>
                </a:moveTo>
                <a:lnTo>
                  <a:pt x="0" y="0"/>
                </a:lnTo>
                <a:lnTo>
                  <a:pt x="0" y="476669"/>
                </a:lnTo>
                <a:lnTo>
                  <a:pt x="386410" y="476669"/>
                </a:lnTo>
                <a:lnTo>
                  <a:pt x="386410" y="0"/>
                </a:lnTo>
                <a:close/>
              </a:path>
            </a:pathLst>
          </a:custGeom>
          <a:solidFill>
            <a:srgbClr val="E16C09"/>
          </a:solidFill>
        </p:spPr>
        <p:txBody>
          <a:bodyPr wrap="square" lIns="0" tIns="0" rIns="0" bIns="0" rtlCol="0"/>
          <a:lstStyle/>
          <a:p>
            <a:endParaRPr/>
          </a:p>
        </p:txBody>
      </p:sp>
      <p:pic>
        <p:nvPicPr>
          <p:cNvPr id="3" name="object 3"/>
          <p:cNvPicPr/>
          <p:nvPr/>
        </p:nvPicPr>
        <p:blipFill>
          <a:blip r:embed="rId2" cstate="print"/>
          <a:stretch>
            <a:fillRect/>
          </a:stretch>
        </p:blipFill>
        <p:spPr>
          <a:xfrm>
            <a:off x="2848736" y="2150045"/>
            <a:ext cx="5029454" cy="2100961"/>
          </a:xfrm>
          <a:prstGeom prst="rect">
            <a:avLst/>
          </a:prstGeom>
        </p:spPr>
      </p:pic>
      <p:grpSp>
        <p:nvGrpSpPr>
          <p:cNvPr id="4" name="object 4"/>
          <p:cNvGrpSpPr/>
          <p:nvPr/>
        </p:nvGrpSpPr>
        <p:grpSpPr>
          <a:xfrm>
            <a:off x="-4762" y="1979929"/>
            <a:ext cx="275590" cy="2441575"/>
            <a:chOff x="-4762" y="1979929"/>
            <a:chExt cx="275590" cy="2441575"/>
          </a:xfrm>
        </p:grpSpPr>
        <p:pic>
          <p:nvPicPr>
            <p:cNvPr id="5" name="object 5"/>
            <p:cNvPicPr/>
            <p:nvPr/>
          </p:nvPicPr>
          <p:blipFill>
            <a:blip r:embed="rId3" cstate="print"/>
            <a:stretch>
              <a:fillRect/>
            </a:stretch>
          </p:blipFill>
          <p:spPr>
            <a:xfrm>
              <a:off x="6142" y="1979929"/>
              <a:ext cx="264096" cy="2441194"/>
            </a:xfrm>
            <a:prstGeom prst="rect">
              <a:avLst/>
            </a:prstGeom>
          </p:spPr>
        </p:pic>
        <p:pic>
          <p:nvPicPr>
            <p:cNvPr id="6" name="object 6"/>
            <p:cNvPicPr/>
            <p:nvPr/>
          </p:nvPicPr>
          <p:blipFill>
            <a:blip r:embed="rId4" cstate="print"/>
            <a:stretch>
              <a:fillRect/>
            </a:stretch>
          </p:blipFill>
          <p:spPr>
            <a:xfrm>
              <a:off x="0" y="1988819"/>
              <a:ext cx="235800" cy="2376297"/>
            </a:xfrm>
            <a:prstGeom prst="rect">
              <a:avLst/>
            </a:prstGeom>
          </p:spPr>
        </p:pic>
        <p:sp>
          <p:nvSpPr>
            <p:cNvPr id="7" name="object 7"/>
            <p:cNvSpPr/>
            <p:nvPr/>
          </p:nvSpPr>
          <p:spPr>
            <a:xfrm>
              <a:off x="0" y="1988819"/>
              <a:ext cx="236220" cy="2376805"/>
            </a:xfrm>
            <a:custGeom>
              <a:avLst/>
              <a:gdLst/>
              <a:ahLst/>
              <a:cxnLst/>
              <a:rect l="l" t="t" r="r" b="b"/>
              <a:pathLst>
                <a:path w="236220" h="2376804">
                  <a:moveTo>
                    <a:pt x="0" y="2376297"/>
                  </a:moveTo>
                  <a:lnTo>
                    <a:pt x="235800" y="2376297"/>
                  </a:lnTo>
                  <a:lnTo>
                    <a:pt x="235800" y="0"/>
                  </a:lnTo>
                  <a:lnTo>
                    <a:pt x="0" y="0"/>
                  </a:lnTo>
                </a:path>
              </a:pathLst>
            </a:custGeom>
            <a:ln w="9525">
              <a:solidFill>
                <a:srgbClr val="46AAC5"/>
              </a:solidFill>
            </a:ln>
          </p:spPr>
          <p:txBody>
            <a:bodyPr wrap="square" lIns="0" tIns="0" rIns="0" bIns="0" rtlCol="0"/>
            <a:lstStyle/>
            <a:p>
              <a:endParaRPr/>
            </a:p>
          </p:txBody>
        </p:sp>
      </p:grpSp>
      <p:grpSp>
        <p:nvGrpSpPr>
          <p:cNvPr id="8" name="object 8"/>
          <p:cNvGrpSpPr/>
          <p:nvPr/>
        </p:nvGrpSpPr>
        <p:grpSpPr>
          <a:xfrm>
            <a:off x="11149456" y="1979929"/>
            <a:ext cx="285750" cy="2441575"/>
            <a:chOff x="11149456" y="1979929"/>
            <a:chExt cx="285750" cy="2441575"/>
          </a:xfrm>
        </p:grpSpPr>
        <p:pic>
          <p:nvPicPr>
            <p:cNvPr id="9" name="object 9"/>
            <p:cNvPicPr/>
            <p:nvPr/>
          </p:nvPicPr>
          <p:blipFill>
            <a:blip r:embed="rId5" cstate="print"/>
            <a:stretch>
              <a:fillRect/>
            </a:stretch>
          </p:blipFill>
          <p:spPr>
            <a:xfrm>
              <a:off x="11149456" y="1979929"/>
              <a:ext cx="280504" cy="2441194"/>
            </a:xfrm>
            <a:prstGeom prst="rect">
              <a:avLst/>
            </a:prstGeom>
          </p:spPr>
        </p:pic>
        <p:pic>
          <p:nvPicPr>
            <p:cNvPr id="10" name="object 10"/>
            <p:cNvPicPr/>
            <p:nvPr/>
          </p:nvPicPr>
          <p:blipFill>
            <a:blip r:embed="rId6" cstate="print"/>
            <a:stretch>
              <a:fillRect/>
            </a:stretch>
          </p:blipFill>
          <p:spPr>
            <a:xfrm>
              <a:off x="11187556" y="1988819"/>
              <a:ext cx="242392" cy="2376297"/>
            </a:xfrm>
            <a:prstGeom prst="rect">
              <a:avLst/>
            </a:prstGeom>
          </p:spPr>
        </p:pic>
        <p:sp>
          <p:nvSpPr>
            <p:cNvPr id="11" name="object 11"/>
            <p:cNvSpPr/>
            <p:nvPr/>
          </p:nvSpPr>
          <p:spPr>
            <a:xfrm>
              <a:off x="11187556" y="1988819"/>
              <a:ext cx="242570" cy="2376805"/>
            </a:xfrm>
            <a:custGeom>
              <a:avLst/>
              <a:gdLst/>
              <a:ahLst/>
              <a:cxnLst/>
              <a:rect l="l" t="t" r="r" b="b"/>
              <a:pathLst>
                <a:path w="242570" h="2376804">
                  <a:moveTo>
                    <a:pt x="0" y="2376297"/>
                  </a:moveTo>
                  <a:lnTo>
                    <a:pt x="242392" y="2376297"/>
                  </a:lnTo>
                  <a:lnTo>
                    <a:pt x="242392" y="0"/>
                  </a:lnTo>
                  <a:lnTo>
                    <a:pt x="0" y="0"/>
                  </a:lnTo>
                  <a:lnTo>
                    <a:pt x="0" y="2376297"/>
                  </a:lnTo>
                  <a:close/>
                </a:path>
              </a:pathLst>
            </a:custGeom>
            <a:ln w="9525">
              <a:solidFill>
                <a:srgbClr val="46AAC5"/>
              </a:solidFill>
            </a:ln>
          </p:spPr>
          <p:txBody>
            <a:bodyPr wrap="square" lIns="0" tIns="0" rIns="0" bIns="0" rtlCol="0"/>
            <a:lstStyle/>
            <a:p>
              <a:endParaRPr/>
            </a:p>
          </p:txBody>
        </p:sp>
      </p:grpSp>
      <p:sp>
        <p:nvSpPr>
          <p:cNvPr id="12" name="object 12"/>
          <p:cNvSpPr txBox="1"/>
          <p:nvPr/>
        </p:nvSpPr>
        <p:spPr>
          <a:xfrm>
            <a:off x="2848736" y="6535318"/>
            <a:ext cx="5694680"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006DC0"/>
                </a:solidFill>
                <a:latin typeface="Verdana"/>
                <a:cs typeface="Verdana"/>
              </a:rPr>
              <a:t>Vel</a:t>
            </a:r>
            <a:r>
              <a:rPr sz="1200" spc="-105" dirty="0">
                <a:solidFill>
                  <a:srgbClr val="006DC0"/>
                </a:solidFill>
                <a:latin typeface="Verdana"/>
                <a:cs typeface="Verdana"/>
              </a:rPr>
              <a:t> </a:t>
            </a:r>
            <a:r>
              <a:rPr sz="1200" spc="-25" dirty="0">
                <a:solidFill>
                  <a:srgbClr val="006DC0"/>
                </a:solidFill>
                <a:latin typeface="Verdana"/>
                <a:cs typeface="Verdana"/>
              </a:rPr>
              <a:t>Tech</a:t>
            </a:r>
            <a:r>
              <a:rPr sz="1200" spc="-105" dirty="0">
                <a:solidFill>
                  <a:srgbClr val="006DC0"/>
                </a:solidFill>
                <a:latin typeface="Verdana"/>
                <a:cs typeface="Verdana"/>
              </a:rPr>
              <a:t> </a:t>
            </a:r>
            <a:r>
              <a:rPr sz="1200" spc="-10" dirty="0">
                <a:solidFill>
                  <a:srgbClr val="006DC0"/>
                </a:solidFill>
                <a:latin typeface="Verdana"/>
                <a:cs typeface="Verdana"/>
              </a:rPr>
              <a:t>Rangarajan</a:t>
            </a:r>
            <a:r>
              <a:rPr sz="1200" spc="70" dirty="0">
                <a:solidFill>
                  <a:srgbClr val="006DC0"/>
                </a:solidFill>
                <a:latin typeface="Verdana"/>
                <a:cs typeface="Verdana"/>
              </a:rPr>
              <a:t> </a:t>
            </a:r>
            <a:r>
              <a:rPr sz="1200" spc="-70" dirty="0">
                <a:solidFill>
                  <a:srgbClr val="006DC0"/>
                </a:solidFill>
                <a:latin typeface="Verdana"/>
                <a:cs typeface="Verdana"/>
              </a:rPr>
              <a:t>Dr.</a:t>
            </a:r>
            <a:r>
              <a:rPr sz="1200" spc="-235" dirty="0">
                <a:solidFill>
                  <a:srgbClr val="006DC0"/>
                </a:solidFill>
                <a:latin typeface="Verdana"/>
                <a:cs typeface="Verdana"/>
              </a:rPr>
              <a:t> </a:t>
            </a:r>
            <a:r>
              <a:rPr sz="1200" spc="-25" dirty="0">
                <a:solidFill>
                  <a:srgbClr val="006DC0"/>
                </a:solidFill>
                <a:latin typeface="Verdana"/>
                <a:cs typeface="Verdana"/>
              </a:rPr>
              <a:t>Sagunthala</a:t>
            </a:r>
            <a:r>
              <a:rPr sz="1200" spc="30" dirty="0">
                <a:solidFill>
                  <a:srgbClr val="006DC0"/>
                </a:solidFill>
                <a:latin typeface="Verdana"/>
                <a:cs typeface="Verdana"/>
              </a:rPr>
              <a:t> </a:t>
            </a:r>
            <a:r>
              <a:rPr sz="1200" spc="-45" dirty="0">
                <a:solidFill>
                  <a:srgbClr val="006DC0"/>
                </a:solidFill>
                <a:latin typeface="Verdana"/>
                <a:cs typeface="Verdana"/>
              </a:rPr>
              <a:t>R&amp;D</a:t>
            </a:r>
            <a:r>
              <a:rPr sz="1200" spc="-160" dirty="0">
                <a:solidFill>
                  <a:srgbClr val="006DC0"/>
                </a:solidFill>
                <a:latin typeface="Verdana"/>
                <a:cs typeface="Verdana"/>
              </a:rPr>
              <a:t> </a:t>
            </a:r>
            <a:r>
              <a:rPr sz="1200" spc="-100" dirty="0">
                <a:solidFill>
                  <a:srgbClr val="006DC0"/>
                </a:solidFill>
                <a:latin typeface="Verdana"/>
                <a:cs typeface="Verdana"/>
              </a:rPr>
              <a:t>Institute</a:t>
            </a:r>
            <a:r>
              <a:rPr sz="1200" spc="-130" dirty="0">
                <a:solidFill>
                  <a:srgbClr val="006DC0"/>
                </a:solidFill>
                <a:latin typeface="Verdana"/>
                <a:cs typeface="Verdana"/>
              </a:rPr>
              <a:t> </a:t>
            </a:r>
            <a:r>
              <a:rPr sz="1200" dirty="0">
                <a:solidFill>
                  <a:srgbClr val="006DC0"/>
                </a:solidFill>
                <a:latin typeface="Verdana"/>
                <a:cs typeface="Verdana"/>
              </a:rPr>
              <a:t>of</a:t>
            </a:r>
            <a:r>
              <a:rPr sz="1200" spc="-65" dirty="0">
                <a:solidFill>
                  <a:srgbClr val="006DC0"/>
                </a:solidFill>
                <a:latin typeface="Verdana"/>
                <a:cs typeface="Verdana"/>
              </a:rPr>
              <a:t> </a:t>
            </a:r>
            <a:r>
              <a:rPr sz="1200" spc="-20" dirty="0">
                <a:solidFill>
                  <a:srgbClr val="006DC0"/>
                </a:solidFill>
                <a:latin typeface="Verdana"/>
                <a:cs typeface="Verdana"/>
              </a:rPr>
              <a:t>Science</a:t>
            </a:r>
            <a:r>
              <a:rPr sz="1200" spc="-60" dirty="0">
                <a:solidFill>
                  <a:srgbClr val="006DC0"/>
                </a:solidFill>
                <a:latin typeface="Verdana"/>
                <a:cs typeface="Verdana"/>
              </a:rPr>
              <a:t> </a:t>
            </a:r>
            <a:r>
              <a:rPr sz="1200" dirty="0">
                <a:solidFill>
                  <a:srgbClr val="006DC0"/>
                </a:solidFill>
                <a:latin typeface="Verdana"/>
                <a:cs typeface="Verdana"/>
              </a:rPr>
              <a:t>and</a:t>
            </a:r>
            <a:r>
              <a:rPr sz="1200" spc="-45" dirty="0">
                <a:solidFill>
                  <a:srgbClr val="006DC0"/>
                </a:solidFill>
                <a:latin typeface="Verdana"/>
                <a:cs typeface="Verdana"/>
              </a:rPr>
              <a:t> </a:t>
            </a:r>
            <a:r>
              <a:rPr sz="1200" spc="-10" dirty="0">
                <a:solidFill>
                  <a:srgbClr val="006DC0"/>
                </a:solidFill>
                <a:latin typeface="Verdana"/>
                <a:cs typeface="Verdana"/>
              </a:rPr>
              <a:t>Technology</a:t>
            </a:r>
            <a:endParaRPr sz="1200">
              <a:latin typeface="Verdana"/>
              <a:cs typeface="Verdana"/>
            </a:endParaRPr>
          </a:p>
        </p:txBody>
      </p:sp>
      <p:sp>
        <p:nvSpPr>
          <p:cNvPr id="13" name="object 13"/>
          <p:cNvSpPr txBox="1"/>
          <p:nvPr/>
        </p:nvSpPr>
        <p:spPr>
          <a:xfrm>
            <a:off x="10812526" y="6569150"/>
            <a:ext cx="205740" cy="208279"/>
          </a:xfrm>
          <a:prstGeom prst="rect">
            <a:avLst/>
          </a:prstGeom>
        </p:spPr>
        <p:txBody>
          <a:bodyPr vert="horz" wrap="square" lIns="0" tIns="12700" rIns="0" bIns="0" rtlCol="0">
            <a:spAutoFit/>
          </a:bodyPr>
          <a:lstStyle/>
          <a:p>
            <a:pPr marL="12700">
              <a:lnSpc>
                <a:spcPct val="100000"/>
              </a:lnSpc>
              <a:spcBef>
                <a:spcPts val="100"/>
              </a:spcBef>
            </a:pPr>
            <a:r>
              <a:rPr sz="1200" spc="-35" dirty="0">
                <a:solidFill>
                  <a:srgbClr val="868686"/>
                </a:solidFill>
                <a:latin typeface="Verdana"/>
                <a:cs typeface="Verdana"/>
              </a:rPr>
              <a:t>12</a:t>
            </a:r>
            <a:endParaRPr sz="1200">
              <a:latin typeface="Verdana"/>
              <a:cs typeface="Verdan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209</TotalTime>
  <Words>1614</Words>
  <Application>Microsoft Office PowerPoint</Application>
  <PresentationFormat>Custom</PresentationFormat>
  <Paragraphs>171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MT</vt:lpstr>
      <vt:lpstr>Tahoma</vt:lpstr>
      <vt:lpstr>Times New Roman</vt:lpstr>
      <vt:lpstr>Verdana</vt:lpstr>
      <vt:lpstr>Office Theme</vt:lpstr>
      <vt:lpstr>Final   Review</vt:lpstr>
      <vt:lpstr>Content</vt:lpstr>
      <vt:lpstr>Abstract</vt:lpstr>
      <vt:lpstr>        Introduction</vt:lpstr>
      <vt:lpstr>Objective</vt:lpstr>
      <vt:lpstr>PowerPoint Presentation</vt:lpstr>
      <vt:lpstr>METHODOLOGY</vt:lpstr>
      <vt:lpstr>Implementation Details and Description</vt:lpstr>
      <vt:lpstr>Block Diagram</vt:lpstr>
      <vt:lpstr>   Software to be used</vt:lpstr>
      <vt:lpstr>Output &amp; Results</vt:lpstr>
      <vt:lpstr>Results and Discussions</vt:lpstr>
      <vt:lpstr>Conclusion</vt:lpstr>
      <vt:lpstr>References</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vc7775b7iqac</dc:creator>
  <cp:lastModifiedBy>Singh, Hemant (Contractor)</cp:lastModifiedBy>
  <cp:revision>3</cp:revision>
  <dcterms:created xsi:type="dcterms:W3CDTF">2026-05-06T15:45:59Z</dcterms:created>
  <dcterms:modified xsi:type="dcterms:W3CDTF">2026-05-07T09:50:24Z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2026-05-06T00:00:00Z</vt:filetime>
  </property>
  <property fmtid="{D5CDD505-2E9C-101B-9397-08002B2CF9AE}" pid="4" name="Creator">
    <vt:lpwstr>Microsoft® PowerPoint® 2021</vt:lpwstr>
  </property>
  <property fmtid="{D5CDD505-2E9C-101B-9397-08002B2CF9AE}" pid="5" name="LastSaved">
    <vt:filetime>2026-05-06T00:00:00Z</vt:filetime>
  </property>
  <property fmtid="{D5CDD505-2E9C-101B-9397-08002B2CF9AE}" pid="6" name="Producer">
    <vt:lpwstr>Microsoft® PowerPoint® 2021</vt:lpwstr>
  </property>
</Properties>
</file>